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5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20"/>
    <p:sldId id="267" r:id="rId2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presProps" Target="presProps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D62FB6A-069E-4FBC-8BBA-13000767C7E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BE336D4-9CA2-4115-B1A6-70FA7738E318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e9eff"/>
            </a:gs>
            <a:gs pos="100000">
              <a:srgbClr val="ffebf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7086240" y="6552720"/>
            <a:ext cx="16765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6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957A58-536A-4C16-9411-FCA2D1E8D65C}" type="slidenum"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425462"/>
                </a:solidFill>
                <a:latin typeface="Arial"/>
              </a:rPr>
              <a:t>Click to edit the title text format</a:t>
            </a:r>
            <a:endParaRPr b="1" lang="en-US" sz="4000" spc="-1" strike="noStrike">
              <a:solidFill>
                <a:srgbClr val="425462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3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4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0196A6-F918-4ACC-AC05-751C41EF2221}" type="slidenum"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e9eff"/>
            </a:gs>
            <a:gs pos="100000">
              <a:srgbClr val="ffebf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3"/>
          <p:cNvSpPr/>
          <p:nvPr/>
        </p:nvSpPr>
        <p:spPr>
          <a:xfrm>
            <a:off x="0" y="380880"/>
            <a:ext cx="9131400" cy="91440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15" descr="DHBK"/>
          <p:cNvPicPr/>
          <p:nvPr/>
        </p:nvPicPr>
        <p:blipFill>
          <a:blip r:embed="rId2"/>
          <a:stretch/>
        </p:blipFill>
        <p:spPr>
          <a:xfrm>
            <a:off x="0" y="0"/>
            <a:ext cx="9144000" cy="3936960"/>
          </a:xfrm>
          <a:prstGeom prst="rect">
            <a:avLst/>
          </a:prstGeom>
          <a:ln w="0">
            <a:noFill/>
          </a:ln>
        </p:spPr>
      </p:pic>
      <p:sp>
        <p:nvSpPr>
          <p:cNvPr id="10" name="Freeform 39"/>
          <p:cNvSpPr/>
          <p:nvPr/>
        </p:nvSpPr>
        <p:spPr>
          <a:xfrm>
            <a:off x="0" y="6346800"/>
            <a:ext cx="9131400" cy="51120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Freeform 30"/>
          <p:cNvSpPr/>
          <p:nvPr/>
        </p:nvSpPr>
        <p:spPr>
          <a:xfrm>
            <a:off x="0" y="0"/>
            <a:ext cx="9153360" cy="1600200"/>
          </a:xfrm>
          <a:custGeom>
            <a:avLst/>
            <a:gdLst/>
            <a:ahLst/>
            <a:rect l="l" t="t" r="r" b="b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0">
            <a:gsLst>
              <a:gs pos="0">
                <a:srgbClr val="cad4cf"/>
              </a:gs>
              <a:gs pos="100000">
                <a:srgbClr val="768a7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" name="Freeform 27"/>
          <p:cNvGrpSpPr/>
          <p:nvPr/>
        </p:nvGrpSpPr>
        <p:grpSpPr>
          <a:xfrm>
            <a:off x="0" y="0"/>
            <a:ext cx="9167760" cy="1359000"/>
            <a:chOff x="0" y="0"/>
            <a:chExt cx="9167760" cy="1359000"/>
          </a:xfrm>
        </p:grpSpPr>
        <p:pic>
          <p:nvPicPr>
            <p:cNvPr id="13" name="Freeform 27" descr="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64520" cy="1355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"/>
            <p:cNvSpPr/>
            <p:nvPr/>
          </p:nvSpPr>
          <p:spPr>
            <a:xfrm>
              <a:off x="0" y="0"/>
              <a:ext cx="9167760" cy="13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" name="Freeform 37"/>
          <p:cNvSpPr/>
          <p:nvPr/>
        </p:nvSpPr>
        <p:spPr>
          <a:xfrm>
            <a:off x="0" y="4373640"/>
            <a:ext cx="9131400" cy="103644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Picture 13" descr="Logo_hcmut"/>
          <p:cNvPicPr/>
          <p:nvPr/>
        </p:nvPicPr>
        <p:blipFill>
          <a:blip r:embed="rId4"/>
          <a:stretch/>
        </p:blipFill>
        <p:spPr>
          <a:xfrm>
            <a:off x="7581960" y="0"/>
            <a:ext cx="1562040" cy="1562040"/>
          </a:xfrm>
          <a:prstGeom prst="rect">
            <a:avLst/>
          </a:prstGeom>
          <a:ln w="0">
            <a:noFill/>
          </a:ln>
          <a:effectLst>
            <a:outerShdw dist="50760" dir="5400000" blurRad="0" rotWithShape="0">
              <a:srgbClr val="000000">
                <a:alpha val="21000"/>
              </a:srgbClr>
            </a:outerShdw>
          </a:effectLst>
        </p:spPr>
      </p:pic>
      <p:sp>
        <p:nvSpPr>
          <p:cNvPr id="17" name="TextBox 8"/>
          <p:cNvSpPr/>
          <p:nvPr/>
        </p:nvSpPr>
        <p:spPr>
          <a:xfrm>
            <a:off x="0" y="4343400"/>
            <a:ext cx="93265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0000"/>
                </a:solidFill>
                <a:latin typeface="Arial"/>
              </a:rPr>
              <a:t>Tầm nhìn-Sứ mạng-Mục tiêu-Nhiệm vụ (VMGO)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Arial"/>
              </a:rPr>
              <a:t>Bộ môn Điện Tử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0"/>
          <p:cNvSpPr/>
          <p:nvPr/>
        </p:nvSpPr>
        <p:spPr>
          <a:xfrm>
            <a:off x="3352680" y="6095880"/>
            <a:ext cx="28958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2"/>
          <p:cNvSpPr/>
          <p:nvPr/>
        </p:nvSpPr>
        <p:spPr>
          <a:xfrm>
            <a:off x="3390840" y="6453360"/>
            <a:ext cx="2895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2f6acb"/>
                </a:solidFill>
                <a:latin typeface="Arial"/>
              </a:rPr>
              <a:t>TP.Hồ Chí Minh  09/2011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12"/>
          <p:cNvSpPr/>
          <p:nvPr/>
        </p:nvSpPr>
        <p:spPr>
          <a:xfrm>
            <a:off x="2971800" y="5791320"/>
            <a:ext cx="3048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2060"/>
                </a:solidFill>
                <a:latin typeface="Arial"/>
              </a:rPr>
              <a:t>Hoàng Trang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425462"/>
                </a:solidFill>
                <a:latin typeface="Arial"/>
              </a:rPr>
              <a:t>Click to edit the title text format</a:t>
            </a:r>
            <a:endParaRPr b="1" lang="en-US" sz="4000" spc="-1" strike="noStrike">
              <a:solidFill>
                <a:srgbClr val="425462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0" y="6610320"/>
            <a:ext cx="380880" cy="24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A77033-1524-426F-9773-6F93FD49623E}" type="slidenum"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e9eff"/>
            </a:gs>
            <a:gs pos="100000">
              <a:srgbClr val="ffebf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73"/>
          <p:cNvSpPr/>
          <p:nvPr/>
        </p:nvSpPr>
        <p:spPr>
          <a:xfrm>
            <a:off x="0" y="76320"/>
            <a:ext cx="9131400" cy="121896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Picture 6" descr="hinh3.png"/>
          <p:cNvPicPr/>
          <p:nvPr/>
        </p:nvPicPr>
        <p:blipFill>
          <a:blip r:embed="rId2"/>
          <a:stretch/>
        </p:blipFill>
        <p:spPr>
          <a:xfrm>
            <a:off x="0" y="0"/>
            <a:ext cx="9144000" cy="609480"/>
          </a:xfrm>
          <a:prstGeom prst="rect">
            <a:avLst/>
          </a:prstGeom>
          <a:ln w="0">
            <a:noFill/>
          </a:ln>
        </p:spPr>
      </p:pic>
      <p:pic>
        <p:nvPicPr>
          <p:cNvPr id="26" name="Picture 13" descr="Logo_hcmut"/>
          <p:cNvPicPr/>
          <p:nvPr/>
        </p:nvPicPr>
        <p:blipFill>
          <a:blip r:embed="rId3"/>
          <a:stretch/>
        </p:blipFill>
        <p:spPr>
          <a:xfrm>
            <a:off x="0" y="0"/>
            <a:ext cx="838080" cy="838080"/>
          </a:xfrm>
          <a:prstGeom prst="rect">
            <a:avLst/>
          </a:prstGeom>
          <a:ln w="0">
            <a:noFill/>
          </a:ln>
          <a:effectLst>
            <a:outerShdw dist="50760" dir="5400000" blurRad="0" rotWithShape="0">
              <a:srgbClr val="000000">
                <a:alpha val="21000"/>
              </a:srgbClr>
            </a:outerShdw>
          </a:effectLst>
        </p:spPr>
      </p:pic>
      <p:sp>
        <p:nvSpPr>
          <p:cNvPr id="27" name="Text Box 11"/>
          <p:cNvSpPr/>
          <p:nvPr/>
        </p:nvSpPr>
        <p:spPr>
          <a:xfrm>
            <a:off x="4114800" y="6597720"/>
            <a:ext cx="914400" cy="337680"/>
          </a:xfrm>
          <a:prstGeom prst="rect">
            <a:avLst/>
          </a:prstGeom>
          <a:noFill/>
          <a:ln w="0">
            <a:noFill/>
          </a:ln>
          <a:effectLst>
            <a:outerShdw dist="17819" dir="2700000" blurRad="0" rotWithShape="0">
              <a:srgbClr val="853a55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dd4805"/>
                </a:solidFill>
                <a:latin typeface="Arial"/>
              </a:rPr>
              <a:t>09/2011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425462"/>
                </a:solidFill>
                <a:latin typeface="Arial"/>
              </a:rPr>
              <a:t>Click to edit the title text format</a:t>
            </a:r>
            <a:endParaRPr b="1" lang="en-US" sz="4000" spc="-1" strike="noStrike">
              <a:solidFill>
                <a:srgbClr val="425462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6"/>
          </p:nvPr>
        </p:nvSpPr>
        <p:spPr>
          <a:xfrm>
            <a:off x="7086240" y="6552720"/>
            <a:ext cx="16765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6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ABCC2B-0B1B-4C72-A713-8F6E517E4D86}" type="slidenum"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e9eff"/>
            </a:gs>
            <a:gs pos="100000">
              <a:srgbClr val="ffebf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73"/>
          <p:cNvSpPr/>
          <p:nvPr/>
        </p:nvSpPr>
        <p:spPr>
          <a:xfrm>
            <a:off x="0" y="380880"/>
            <a:ext cx="9131400" cy="91440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Picture 15" descr="DHBK"/>
          <p:cNvPicPr/>
          <p:nvPr/>
        </p:nvPicPr>
        <p:blipFill>
          <a:blip r:embed="rId2"/>
          <a:stretch/>
        </p:blipFill>
        <p:spPr>
          <a:xfrm>
            <a:off x="0" y="0"/>
            <a:ext cx="9144000" cy="3936960"/>
          </a:xfrm>
          <a:prstGeom prst="rect">
            <a:avLst/>
          </a:prstGeom>
          <a:ln w="0">
            <a:noFill/>
          </a:ln>
        </p:spPr>
      </p:pic>
      <p:sp>
        <p:nvSpPr>
          <p:cNvPr id="33" name="Freeform 39"/>
          <p:cNvSpPr/>
          <p:nvPr/>
        </p:nvSpPr>
        <p:spPr>
          <a:xfrm>
            <a:off x="0" y="6346800"/>
            <a:ext cx="9131400" cy="51120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Freeform 30"/>
          <p:cNvSpPr/>
          <p:nvPr/>
        </p:nvSpPr>
        <p:spPr>
          <a:xfrm>
            <a:off x="0" y="0"/>
            <a:ext cx="9153360" cy="1600200"/>
          </a:xfrm>
          <a:custGeom>
            <a:avLst/>
            <a:gdLst/>
            <a:ahLst/>
            <a:rect l="l" t="t" r="r" b="b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0">
            <a:gsLst>
              <a:gs pos="0">
                <a:srgbClr val="cad4cf"/>
              </a:gs>
              <a:gs pos="100000">
                <a:srgbClr val="768a7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" name="Freeform 27"/>
          <p:cNvGrpSpPr/>
          <p:nvPr/>
        </p:nvGrpSpPr>
        <p:grpSpPr>
          <a:xfrm>
            <a:off x="0" y="0"/>
            <a:ext cx="9167760" cy="1359000"/>
            <a:chOff x="0" y="0"/>
            <a:chExt cx="9167760" cy="1359000"/>
          </a:xfrm>
        </p:grpSpPr>
        <p:pic>
          <p:nvPicPr>
            <p:cNvPr id="36" name="Freeform 27" descr="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64520" cy="1355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7" name=""/>
            <p:cNvSpPr/>
            <p:nvPr/>
          </p:nvSpPr>
          <p:spPr>
            <a:xfrm>
              <a:off x="0" y="0"/>
              <a:ext cx="9167760" cy="13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" name="Freeform 37"/>
          <p:cNvSpPr/>
          <p:nvPr/>
        </p:nvSpPr>
        <p:spPr>
          <a:xfrm>
            <a:off x="0" y="4373640"/>
            <a:ext cx="9131400" cy="103644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Picture 13" descr="Logo_hcmut"/>
          <p:cNvPicPr/>
          <p:nvPr/>
        </p:nvPicPr>
        <p:blipFill>
          <a:blip r:embed="rId4"/>
          <a:stretch/>
        </p:blipFill>
        <p:spPr>
          <a:xfrm>
            <a:off x="7581960" y="0"/>
            <a:ext cx="1562040" cy="1562040"/>
          </a:xfrm>
          <a:prstGeom prst="rect">
            <a:avLst/>
          </a:prstGeom>
          <a:ln w="0">
            <a:noFill/>
          </a:ln>
          <a:effectLst>
            <a:outerShdw dist="50760" dir="5400000" blurRad="0" rotWithShape="0">
              <a:srgbClr val="000000">
                <a:alpha val="21000"/>
              </a:srgbClr>
            </a:outerShdw>
          </a:effectLst>
        </p:spPr>
      </p:pic>
      <p:sp>
        <p:nvSpPr>
          <p:cNvPr id="40" name="TextBox 8"/>
          <p:cNvSpPr/>
          <p:nvPr/>
        </p:nvSpPr>
        <p:spPr>
          <a:xfrm>
            <a:off x="0" y="4343400"/>
            <a:ext cx="93265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0000"/>
                </a:solidFill>
                <a:latin typeface="Arial"/>
              </a:rPr>
              <a:t>Tầm nhìn-Sứ mạng-Mục tiêu-Nhiệm vụ (VMGO)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Arial"/>
              </a:rPr>
              <a:t>Bộ môn Điện Tử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10"/>
          <p:cNvSpPr/>
          <p:nvPr/>
        </p:nvSpPr>
        <p:spPr>
          <a:xfrm>
            <a:off x="3352680" y="6095880"/>
            <a:ext cx="28958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12"/>
          <p:cNvSpPr/>
          <p:nvPr/>
        </p:nvSpPr>
        <p:spPr>
          <a:xfrm>
            <a:off x="3390840" y="6453360"/>
            <a:ext cx="2895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2f6acb"/>
                </a:solidFill>
                <a:latin typeface="Arial"/>
              </a:rPr>
              <a:t>TP.Hồ Chí Minh  09/2011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12"/>
          <p:cNvSpPr/>
          <p:nvPr/>
        </p:nvSpPr>
        <p:spPr>
          <a:xfrm>
            <a:off x="2971800" y="5791320"/>
            <a:ext cx="3048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2060"/>
                </a:solidFill>
                <a:latin typeface="Arial"/>
              </a:rPr>
              <a:t>Hoàng Trang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425462"/>
                </a:solidFill>
                <a:latin typeface="Arial"/>
              </a:rPr>
              <a:t>Click to edit the title text format</a:t>
            </a:r>
            <a:endParaRPr b="1" lang="en-US" sz="4000" spc="-1" strike="noStrike">
              <a:solidFill>
                <a:srgbClr val="425462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7"/>
          </p:nvPr>
        </p:nvSpPr>
        <p:spPr>
          <a:xfrm>
            <a:off x="0" y="6610320"/>
            <a:ext cx="380880" cy="24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D78C84-AC03-4792-A216-DD52594BF981}" type="slidenum"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3" descr="Logo_hcmut"/>
          <p:cNvPicPr/>
          <p:nvPr/>
        </p:nvPicPr>
        <p:blipFill>
          <a:blip r:embed="rId2"/>
          <a:stretch/>
        </p:blipFill>
        <p:spPr>
          <a:xfrm>
            <a:off x="0" y="0"/>
            <a:ext cx="838080" cy="838080"/>
          </a:xfrm>
          <a:prstGeom prst="rect">
            <a:avLst/>
          </a:prstGeom>
          <a:ln w="0">
            <a:noFill/>
          </a:ln>
          <a:effectLst>
            <a:outerShdw dist="50760" dir="5400000" blurRad="0" rotWithShape="0">
              <a:srgbClr val="000000">
                <a:alpha val="21000"/>
              </a:srgbClr>
            </a:outerShdw>
          </a:effectLst>
        </p:spPr>
      </p:pic>
      <p:sp>
        <p:nvSpPr>
          <p:cNvPr id="48" name="Text Box 11"/>
          <p:cNvSpPr/>
          <p:nvPr/>
        </p:nvSpPr>
        <p:spPr>
          <a:xfrm>
            <a:off x="3759120" y="6477120"/>
            <a:ext cx="1524240" cy="337680"/>
          </a:xfrm>
          <a:prstGeom prst="rect">
            <a:avLst/>
          </a:prstGeom>
          <a:noFill/>
          <a:ln w="0">
            <a:noFill/>
          </a:ln>
          <a:effectLst>
            <a:outerShdw dist="17819" dir="2700000" blurRad="0" rotWithShape="0">
              <a:srgbClr val="2f4d71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2060"/>
                </a:solidFill>
                <a:latin typeface="Arial"/>
              </a:rPr>
              <a:t>Họ và tên SV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traight Connector 6"/>
          <p:cNvSpPr/>
          <p:nvPr/>
        </p:nvSpPr>
        <p:spPr>
          <a:xfrm>
            <a:off x="152280" y="990720"/>
            <a:ext cx="8839440" cy="0"/>
          </a:xfrm>
          <a:prstGeom prst="line">
            <a:avLst/>
          </a:prstGeom>
          <a:ln w="50760">
            <a:solidFill>
              <a:srgbClr val="0070c0"/>
            </a:solidFill>
            <a:bevel/>
            <a:headEnd len="med" type="diamond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Box 11"/>
          <p:cNvSpPr/>
          <p:nvPr/>
        </p:nvSpPr>
        <p:spPr>
          <a:xfrm>
            <a:off x="152280" y="6519960"/>
            <a:ext cx="3606840" cy="337680"/>
          </a:xfrm>
          <a:prstGeom prst="rect">
            <a:avLst/>
          </a:prstGeom>
          <a:noFill/>
          <a:ln w="0">
            <a:noFill/>
          </a:ln>
          <a:effectLst>
            <a:outerShdw dist="17819" dir="2700000" blurRad="0" rotWithShape="0">
              <a:srgbClr val="2f4d71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2060"/>
                </a:solidFill>
                <a:latin typeface="Arial"/>
              </a:rPr>
              <a:t>Luận văn tốt nghiệp/Đồ án tốt nghiệp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Box 11"/>
          <p:cNvSpPr/>
          <p:nvPr/>
        </p:nvSpPr>
        <p:spPr>
          <a:xfrm>
            <a:off x="5900760" y="6454800"/>
            <a:ext cx="2743200" cy="337680"/>
          </a:xfrm>
          <a:prstGeom prst="rect">
            <a:avLst/>
          </a:prstGeom>
          <a:noFill/>
          <a:ln w="0">
            <a:noFill/>
          </a:ln>
          <a:effectLst>
            <a:outerShdw dist="17819" dir="2700000" blurRad="0" rotWithShape="0">
              <a:srgbClr val="2f4d71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2060"/>
                </a:solidFill>
                <a:latin typeface="Arial"/>
              </a:rPr>
              <a:t>Ngày tháng năm bảo vệ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8"/>
          </p:nvPr>
        </p:nvSpPr>
        <p:spPr>
          <a:xfrm>
            <a:off x="700992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94FC85-693B-4B2A-B701-038729BF45DE}" type="slidenum"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73"/>
          <p:cNvSpPr/>
          <p:nvPr/>
        </p:nvSpPr>
        <p:spPr>
          <a:xfrm>
            <a:off x="0" y="380880"/>
            <a:ext cx="9131400" cy="91440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Freeform 39"/>
          <p:cNvSpPr/>
          <p:nvPr/>
        </p:nvSpPr>
        <p:spPr>
          <a:xfrm>
            <a:off x="0" y="6346800"/>
            <a:ext cx="9131400" cy="511200"/>
          </a:xfrm>
          <a:custGeom>
            <a:avLst/>
            <a:gdLst/>
            <a:ahLst/>
            <a:rect l="l" t="t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9"/>
          <p:cNvSpPr/>
          <p:nvPr/>
        </p:nvSpPr>
        <p:spPr>
          <a:xfrm>
            <a:off x="-92160" y="220680"/>
            <a:ext cx="93265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0272"/>
                </a:solidFill>
                <a:latin typeface="Arial"/>
              </a:rPr>
              <a:t>ĐẠI HỌC QUỐC GIA TP.HỒ CHÍ MINH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0272"/>
                </a:solidFill>
                <a:latin typeface="Arial"/>
              </a:rPr>
              <a:t>TRƯỜNG ĐẠI HỌC BÁCH KHOA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170272"/>
                </a:solidFill>
                <a:latin typeface="Arial"/>
              </a:rPr>
              <a:t>KHOA ĐIỆN-ĐIỆN TỬ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3352680" y="6095880"/>
            <a:ext cx="28958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2"/>
          <p:cNvSpPr/>
          <p:nvPr/>
        </p:nvSpPr>
        <p:spPr>
          <a:xfrm>
            <a:off x="2514600" y="6453360"/>
            <a:ext cx="662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2f6acb"/>
                </a:solidFill>
                <a:latin typeface="Arial"/>
              </a:rPr>
              <a:t>TP.Hồ Chí Minh  ngayngay /tt/nnnn (nhập ngày/tháng/năm ngày bảo vệ)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2"/>
          <p:cNvSpPr/>
          <p:nvPr/>
        </p:nvSpPr>
        <p:spPr>
          <a:xfrm>
            <a:off x="0" y="2438280"/>
            <a:ext cx="9144000" cy="32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3376c7"/>
                </a:solidFill>
                <a:latin typeface="Arial"/>
              </a:rPr>
              <a:t>LUẬN VĂN TỐT NGHIỆP (K18 về trước)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3376c7"/>
                </a:solidFill>
                <a:latin typeface="Arial"/>
              </a:rPr>
              <a:t>ĐỒ ÁN TỐT NGHIỆP (K19 về sau)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76c7"/>
                </a:solidFill>
                <a:latin typeface="Arial"/>
              </a:rPr>
              <a:t>nhập tên đề tài vào đây (chọn View-&gt; master view-&gt;…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76c7"/>
                </a:solidFill>
                <a:latin typeface="Arial"/>
              </a:rPr>
              <a:t>GVHD: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76c7"/>
                </a:solidFill>
                <a:latin typeface="Arial"/>
              </a:rPr>
              <a:t>SV: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76c7"/>
                </a:solidFill>
                <a:latin typeface="Arial"/>
              </a:rPr>
              <a:t>MSSV: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 12" descr=""/>
          <p:cNvPicPr/>
          <p:nvPr/>
        </p:nvPicPr>
        <p:blipFill>
          <a:blip r:embed="rId2"/>
          <a:stretch/>
        </p:blipFill>
        <p:spPr>
          <a:xfrm>
            <a:off x="7391520" y="179280"/>
            <a:ext cx="1716120" cy="156060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9"/>
          </p:nvPr>
        </p:nvSpPr>
        <p:spPr>
          <a:xfrm>
            <a:off x="0" y="6610320"/>
            <a:ext cx="380880" cy="24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FD147C-F6A1-4F38-882F-C8BA37B3BD43}" type="slidenum">
              <a:rPr b="0" lang="en-US" sz="10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1"/>
          <p:cNvSpPr/>
          <p:nvPr/>
        </p:nvSpPr>
        <p:spPr>
          <a:xfrm>
            <a:off x="0" y="6610320"/>
            <a:ext cx="38088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CB1842-B727-40AD-95CC-9DDE2F67E36F}" type="slidenum">
              <a:rPr b="0" lang="en-US" sz="10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lide Number Placeholder 2"/>
          <p:cNvSpPr/>
          <p:nvPr/>
        </p:nvSpPr>
        <p:spPr>
          <a:xfrm>
            <a:off x="0" y="6610320"/>
            <a:ext cx="38088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0BEC3C-C90C-407C-A199-A7A10F288F8C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0" y="180000"/>
            <a:ext cx="9144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896"/>
                </a:solidFill>
              </a:rPr>
              <a:t>ĐẠI HỌC QUỐC GIA TP. HỒ CHÍ MINH — TRƯỜNG ĐẠI HỌC BÁCH KHOA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0" y="480000"/>
            <a:ext cx="914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96"/>
                </a:solidFill>
              </a:rPr>
              <a:t>Khoa Điện – Điện Tử  |  Bộ Môn Điện Tử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0000" y="900000"/>
            <a:ext cx="8344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3896"/>
                </a:solidFill>
              </a:rPr>
              <a:t>THIẾT KẾ RTL VÀ XÂY DỰNG MÔI TRƯỜNG KIỂM THỬ UVM
CHO LÕI VI XỬ LÝ RISC-V (RV32IM) CÓ HỖ TRỢ NGẮT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2650000"/>
            <a:ext cx="914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76C7"/>
                </a:solidFill>
              </a:rPr>
              <a:t>LUẬN VĂN TỐT NGHIỆP ĐẠI HỌC —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00000" y="3200000"/>
            <a:ext cx="55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SVTH: Phạm Tiến Khoa     MSSV: 2010344
GVHD: TS. Trần Hoàng Linh
Bộ Môn Điện Tử — Khoa Điện – Điện Tử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0" y="4400000"/>
            <a:ext cx="914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TP. HỒ CHÍ MINH, THÁNG 5 NĂM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440" y="274320"/>
            <a:ext cx="8001000" cy="7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NỘI DUNG TRÌNH BÀY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Slide Number Placeholder 5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32F066-1578-4FA3-9B9A-BEACC6F8EAE8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5440" y="1050000"/>
            <a:ext cx="777264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1.  Giới thiệu tổng quan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2.  Nhiệm vụ luận văn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3.  Cơ sở lý thuyết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4.  Thiết kế phần cứng RTL (RV32IM Pipeline)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5.  Xây dựng môi trường kiểm thử UVM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6.  Kết quả thực hiện</a:t>
            </a:r>
          </a:p>
          <a:p>
            <a:pPr algn="l"/>
            <a:r>
              <a:rPr sz="2000" b="0">
                <a:solidFill>
                  <a:srgbClr val="000000"/>
                </a:solidFill>
              </a:rPr>
              <a:t>7.  Kết luận và hướng phát triển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93880" y="289080"/>
            <a:ext cx="657360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1. Giới thiệu tổng quan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5C2314-BADE-4859-8395-C1FC036482EB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85440" y="1000000"/>
            <a:ext cx="77726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Bối cảnh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▪ RISC-V — kiến trúc tập lệnh mã nguồn mở, đang phổ biến mạnh trong IC Design toàn cầu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▪ Design Verification (DV) chiếm tới 70% tổng thời gian &amp; nguồn lực trong quy trình thiết kế chip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▪ UVM (IEEE 1800.2) là chuẩn công nghiệp hàng đầu cho Functional Verification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440" y="3400000"/>
            <a:ext cx="777264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Mục tiêu đề tài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▪ Thiết kế lõi vi xử lý RV32IM pipeline 5 tầng hoàn chỉnh, có hỗ trợ ngắt (M-mode)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▪ Áp dụng UVM chuẩn công nghiệp để xây dựng môi trường kiểm thử tự động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▪ Đạt 100% Functional Coverage, kiểm thử &gt;10,000 lệnh ngẫu nhiên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93880" y="289080"/>
            <a:ext cx="495288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2. Nhiệm vụ luận văn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42C423-0508-4A9F-B88D-7844664D1A02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5440" y="950000"/>
            <a:ext cx="777264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Các nhiệm vụ cụ thể:</a:t>
            </a:r>
          </a:p>
          <a:p>
            <a:pPr algn="l"/>
            <a:r>
              <a:rPr sz="1500" b="0">
                <a:solidFill>
                  <a:srgbClr val="000000"/>
                </a:solidFill>
              </a:rPr>
              <a:t>▪ NV 1: Nghiên cứu đặc tả RISC-V (Unprivileged ISA + Privileged Architecture) và chuẩn UVM IEEE 1800.2</a:t>
            </a:r>
          </a:p>
          <a:p>
            <a:pPr algn="l"/>
            <a:r>
              <a:rPr sz="1500" b="0">
                <a:solidFill>
                  <a:srgbClr val="000000"/>
                </a:solidFill>
              </a:rPr>
              <a:t>▪ NV 2: Thiết kế RTL bằng SystemVerilog cho lõi RV32IM pipeline 5 tầng
         → 47 lệnh RV32IM + 6 lệnh CSR + MRET/ECALL/EBREAK
         → Forwarding, Load-Use Stall, Branch Flush, CSR, Interrupt (M-mode)</a:t>
            </a:r>
          </a:p>
          <a:p>
            <a:pPr algn="l"/>
            <a:r>
              <a:rPr sz="1500" b="0">
                <a:solidFill>
                  <a:srgbClr val="000000"/>
                </a:solidFill>
              </a:rPr>
              <a:t>▪ NV 3: Xây dựng môi trường kiểm thử UVM
         → Unit Test: ALU, M-Unit, Decoder, LSU
         → Integration Test: Hazard, Interrupt, Stress Test</a:t>
            </a:r>
          </a:p>
          <a:p>
            <a:pPr algn="l"/>
            <a:r>
              <a:rPr sz="1500" b="0">
                <a:solidFill>
                  <a:srgbClr val="000000"/>
                </a:solidFill>
              </a:rPr>
              <a:t>▪ NV 4: Chạy mô phỏng trên QuestaSim, phân tích kết quả,
         đo lường Functional Coverage và viết báo cáo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93520" y="289080"/>
            <a:ext cx="825012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3. Cơ sở lý thuyết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3A7A1E-E465-44B2-8B23-41E045E52359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85440" y="950000"/>
            <a:ext cx="3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Kiến trúc RISC-V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32 thanh ghi 32-bit (x0 hardwired = 0)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6 định dạng lệnh: R, I, S, B, U, J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RV32I: 37 lệnh cơ sở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RV32M: 8 lệnh nhân/chia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Divide-by-zero: không raise exception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Privileged: M-mode + CSR registers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Ngắt: Software, Timer, External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00000" y="950000"/>
            <a:ext cx="375788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Chuẩn UVM (IEEE 1800.2)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uvm_test → uvm_env → uvm_agent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Driver: tạo stimulus (lệnh → IMEM)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Monitor: thu thập tín hiệu DUT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Scoreboard + Reference Model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Sequence / Sequence Item (Transaction)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Constrained-Random Verification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Functional Coverage (Covergroup)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UVM Phases: build → connect → run → report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93520" y="289080"/>
            <a:ext cx="825012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4. Thiết kế phần cứng — Kiến trúc tổng quan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833D6B-13B5-425C-BFCB-E0020A0DDFFD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85440" y="950000"/>
            <a:ext cx="777264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Yêu cầu thiết kế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ISA: RV32I + RV32M  |  Pipeline: 5 tầng (IF→ID→EX→MEM→WB)  |  Privilege: M-mode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Ngôn ngữ: SystemVerilog IEEE 1800-2017  |  Giao thức bộ nhớ: Handshake Valid/Ready (AXI-like)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440" y="2400000"/>
            <a:ext cx="777264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Cấu trúc module (src/)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soc_top.sv  →  riscv_datapath.sv  +  csr.sv  +  riscv_control.sv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pc_gen.sv — PC register + next-PC MUX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decoder.sv — Giải mã 56 lệnh, tạo control bundle id_ctrl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alu.sv — 11 phép toán ALU  +  riscv_m_unit.sv — MUL(2 cy)/DIV(35 cy)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forwarding_unit.sv — MEM→EX priority over WB→EX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hazard_unit.sv — Load-Use Stall (1 cy)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lsu.sv — FSM 4 trạng thái, Handshake Valid/Ready, Byte Enable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regfile.sv — 32×32-bit, x0 hardwired, 2 read / 1 write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csr.sv — 8 CSR cốt lõi: mstatus, mie, mip, mtvec, mepc, mcause, mtval, mscratch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93520" y="289080"/>
            <a:ext cx="825012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3376c7"/>
                </a:solidFill>
                <a:latin typeface="Arial"/>
                <a:ea typeface="Arial"/>
              </a:rPr>
              <a:t>4. Phát triển phần mềm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FE9432-ABDF-4078-A6CD-B88CD12B0F93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47"/>
          <p:cNvSpPr/>
          <p:nvPr/>
        </p:nvSpPr>
        <p:spPr>
          <a:xfrm>
            <a:off x="457200" y="2057400"/>
            <a:ext cx="838188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Phân tích, giải thích sơ đồ giải thuật, phần cứng, phần mềm, …..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93880" y="289080"/>
            <a:ext cx="626904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6. Kết quả thực hiện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FAD828-BFB6-4DE8-8FC1-F890E03464FF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85440" y="950000"/>
            <a:ext cx="37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Unit Test — Kết quả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ALU: 1000/1000 PASS (11 phép toán, biên số 0/MAX/MIN)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M-Unit: PASS — MUL=2cy, DIV=35cy; corner cases RISC-V spec đúng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Decoder: 56 lệnh PASS; illegal_instr=1 đúng; Immediate 6 định dạng đúng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LSU: PASS — Byte Enable, Sign Extension, Misaligned Exception, Handshake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440" y="3700000"/>
            <a:ext cx="37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Integration Test — Kết quả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Forwarding EX→EX &amp; MEM→EX: Scoreboard PASS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Load-Use Stall 1 chu kỳ: phát hiện đúng is_load_use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Branch Flush 2 chu kỳ: ctrl_flush_if_id + ctrl_flush_id_ex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Interrupt: mepc/mcause đúng, PC→mtvec, MRET khôi phục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00000" y="950000"/>
            <a:ext cx="375788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Stress Test &amp; Coverage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Stress Test (10 lần × 100 lệnh):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10,000+ lệnh ngẫu nhiên — Scoreboard 100% PASS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Không phát hiện lỗi chức năng nào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Phát hiện &amp; fix trong quá trình dev:</a:t>
            </a:r>
          </a:p>
          <a:p>
            <a:pPr algn="l"/>
            <a:r>
              <a:rPr sz="1100" b="0">
                <a:solidFill>
                  <a:srgbClr val="000000"/>
                </a:solidFill>
              </a:rPr>
              <a:t>        ▪ Lỗi ưu tiên Forwarding (MEM vs WB)</a:t>
            </a:r>
          </a:p>
          <a:p>
            <a:pPr algn="l"/>
            <a:r>
              <a:rPr sz="1100" b="0">
                <a:solidFill>
                  <a:srgbClr val="000000"/>
                </a:solidFill>
              </a:rPr>
              <a:t>        ▪ Lỗi biên Restoring Division (MIN_INT ÷ -1)</a:t>
            </a:r>
          </a:p>
          <a:p>
            <a:pPr algn="l"/>
            <a:r>
              <a:rPr sz="1100" b="0">
                <a:solidFill>
                  <a:srgbClr val="000000"/>
                </a:solidFill>
              </a:rPr>
              <a:t>        ▪ Lỗi timing xóa MIE khi Trap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Functional Coverage: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100% trên 199 coverage bins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Bao phủ toàn bộ tập lệnh RV32IM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Bao phủ Data Hazard, Load-Use, Branch, Interrupt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Điểm khác biệt so với đề tài tương tự: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Giao thức Valid/Ready chuẩn AXI-like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UVM với Constrained-Random (không chỉ direct test)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93880" y="289080"/>
            <a:ext cx="7640640" cy="6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2400" b="1">
                <a:solidFill>
                  <a:srgbClr val="3376C7"/>
                </a:solidFill>
              </a:rPr>
              <a:t>7. Kết luận và Hướng phát triển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290F20-6790-4118-AA97-04D1C6FF66E2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85440" y="950000"/>
            <a:ext cx="777264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Kết luận — Đã hoàn thành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✓ Lõi RV32IM pipeline 5 tầng: 47 lệnh + 9 lệnh hệ thống, SystemVerilog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✓ Hazard handling: Forwarding (MEM/WB→EX), Load-Use Stall, Branch Flush (2cy)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✓ CSR + Ngắt M-mode: 8 CSR cốt lõi, 3 nguồn ngắt, Trap hoàn chỉnh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✓ UVM Testbench: Driver, Monitor, Scoreboard, Coverage — chuẩn công nghiệp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✓ 100% Functional Coverage (199 bins) | Stress Test 10,000+ lệnh — PASS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440" y="3900000"/>
            <a:ext cx="37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Hạn chế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Chưa tổng hợp lên FPGA (chưa đo Fmax, tài nguyên)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Chưa có PLIC cho đa nguồn ngắt ưu tiên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Branch Penalty 2cy (chưa có Branch Predictor)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Cache chưa được tích hợp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00000" y="3900000"/>
            <a:ext cx="375788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Hướng phát triển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Tích hợp AXI-4 Lite Master Interface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Triển khai FPGA: DE10-Standard / Arty A7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Branch Predictor (BTB + BHT 2-bit)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I-Cache / D-Cache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Formal Verification (SVA): x0=0, FSM deadlock-free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Thêm S-mode, MMU (Sv32) → chạy FreeRTOS/Linux nhẹ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71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DEA1D4-F279-49DA-ACBE-1BC83149AC90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48"/>
          <p:cNvSpPr/>
          <p:nvPr/>
        </p:nvSpPr>
        <p:spPr>
          <a:xfrm>
            <a:off x="0" y="838080"/>
            <a:ext cx="9144000" cy="457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9"/>
          <p:cNvSpPr/>
          <p:nvPr/>
        </p:nvSpPr>
        <p:spPr>
          <a:xfrm>
            <a:off x="1905120" y="2362320"/>
            <a:ext cx="655308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600" spc="-1" strike="noStrike">
                <a:solidFill>
                  <a:srgbClr val="3376c7"/>
                </a:solidFill>
                <a:latin typeface="Arial"/>
              </a:rPr>
              <a:t>CẢM ƠN…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0" y="2000000"/>
            <a:ext cx="91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96"/>
                </a:solidFill>
              </a:rPr>
              <a:t>XIN CẢM ƠN SỰ LẮNG NGHE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0" y="2800000"/>
            <a:ext cx="91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3896"/>
                </a:solidFill>
              </a:rPr>
              <a:t>CỦA QUÝ THẦY CÔ VÀ CÁC BẠN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0" y="3600000"/>
            <a:ext cx="914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Phạm Tiến Khoa — ptk2002ptkt1@gmail.com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0" y="4200000"/>
            <a:ext cx="914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GitHub: KhoaPham12092002 | MSSV: 2010344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440" y="950000"/>
            <a:ext cx="37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Xử lý Data Hazard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Data Forwarding (2 đường):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  ▪ MEM→EX: ưu tiên cao hơn WB→EX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  ▪ WB→EX: fallback nếu MEM không match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Load-Use Stall: 1 chu kỳ NOP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  ▪ hazard_unit phát hiện is_load_use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  ▪ ctrl_force_stall_id =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440" y="3700000"/>
            <a:ext cx="37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Xử lý Control Hazard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Branch Resolution tại tầng EX (Late)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Branch Penalty: 2 chu kỳ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Flush IF/ID và ID/EX khi branch_taken=1</a:t>
            </a:r>
          </a:p>
          <a:p>
            <a:pPr algn="l"/>
            <a:r>
              <a:rPr sz="1400" b="0">
                <a:solidFill>
                  <a:srgbClr val="000000"/>
                </a:solidFill>
              </a:rPr>
              <a:t>▪ JAL: cũng 2 chu kỳ penalty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0000" y="950000"/>
            <a:ext cx="375788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Xử lý Ngắt &amp; CSR (M-mode)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3 nguồn ngắt: Software, Timer, External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Điều kiện chấp nhận ngắt: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mstatus.MIE = 1 (bật ngắt toàn cục)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mie[bit] = 1 (bật ngắt cụ thể)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mip[bit] = 1 (ngắt đang pending)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Quy trình Trap: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mepc ← PC_current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mcause ← trap_cause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mstatus.MIE ← 0 (khóa ngắt ngay)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PC ← mtvec (ISR address)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Thoát: MRET khôi phục mstatus.MIE và PC ← mepc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440" y="950000"/>
            <a:ext cx="3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Các thành phần UVM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riscv_transaction (Sequence Item)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opcode, rs1, rs2, rd, imm, result_exp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Constrained-random với rand + constraint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riscv_driver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Nạp chương trình vào IMEM ảo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Cung cấp DMEM Responder với độ trễ ngẫu nhiên 1-5 cy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riscv_monitor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Sample write-back: rf_we, rd_addr, wdata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riscv_scoreboard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Reference Model tính toán kết quả kỳ vọng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So sánh exp_fifo vs act_fifo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riscv_coverage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Covergroup cho tất cả 56 lệnh + hazard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0000" y="950000"/>
            <a:ext cx="375788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76C7"/>
                </a:solidFill>
              </a:rPr>
              <a:t>Kịch bản kiểm thử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Unit Test (Đơn vị):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ALU: 11 phép toán, 1000 test vectors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M-Unit: MUL/DIV, corner cases RISC-V spec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Decoder: 56 lệnh, 9 lệnh hệ thống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LSU: LB/LH/LW/LBU/LHU + SB/SH/SW, misaligned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Integration Test (Toàn hệ thống):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Data Hazard &amp; Forwarding (EX→EX, MEM→EX)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Load-Use Stall (1 chu kỳ NOP)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Control Hazard &amp; Pipeline Flush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Interrupt + CSR (mtvec → ISR → MRET)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▪ Stress Test: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100 lệnh ngẫu nhiên × 10 lần = 1,000+ lệnh/run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    ▪ 50% ALU-RAW + 17% Load-Use + 17% Branch + 16%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2010-08-19T03:21:10Z</dcterms:created>
  <dc:creator>HOANG Trang</dc:creator>
  <dc:description/>
  <dc:language>en-US</dc:language>
  <cp:lastModifiedBy>nguyenlythientruong@gmail.com</cp:lastModifiedBy>
  <dcterms:modified xsi:type="dcterms:W3CDTF">2026-04-25T22:06:20Z</dcterms:modified>
  <cp:revision>296</cp:revision>
  <dc:subject/>
  <dc:title>mau LVTN-bmDT</dc:title>
</cp:coreProperties>
</file>