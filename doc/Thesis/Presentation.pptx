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notesMasterIdLst>
    <p:notesMasterId r:id="rId52"/>
  </p:notesMasterIdLst>
  <p:handoutMasterIdLst>
    <p:handoutMasterId r:id="rId53"/>
  </p:handoutMasterIdLst>
  <p:sldIdLst>
    <p:sldId id="256" r:id="rId2"/>
    <p:sldId id="425" r:id="rId3"/>
    <p:sldId id="414" r:id="rId4"/>
    <p:sldId id="428" r:id="rId5"/>
    <p:sldId id="426" r:id="rId6"/>
    <p:sldId id="427" r:id="rId7"/>
    <p:sldId id="463" r:id="rId8"/>
    <p:sldId id="429" r:id="rId9"/>
    <p:sldId id="417" r:id="rId10"/>
    <p:sldId id="418" r:id="rId11"/>
    <p:sldId id="430" r:id="rId12"/>
    <p:sldId id="460" r:id="rId13"/>
    <p:sldId id="462" r:id="rId14"/>
    <p:sldId id="422" r:id="rId15"/>
    <p:sldId id="468" r:id="rId16"/>
    <p:sldId id="464" r:id="rId17"/>
    <p:sldId id="461" r:id="rId18"/>
    <p:sldId id="465" r:id="rId19"/>
    <p:sldId id="431" r:id="rId20"/>
    <p:sldId id="432" r:id="rId21"/>
    <p:sldId id="433" r:id="rId22"/>
    <p:sldId id="434" r:id="rId23"/>
    <p:sldId id="435" r:id="rId24"/>
    <p:sldId id="443" r:id="rId25"/>
    <p:sldId id="436" r:id="rId26"/>
    <p:sldId id="437" r:id="rId27"/>
    <p:sldId id="438" r:id="rId28"/>
    <p:sldId id="467" r:id="rId29"/>
    <p:sldId id="439" r:id="rId30"/>
    <p:sldId id="469" r:id="rId31"/>
    <p:sldId id="440" r:id="rId32"/>
    <p:sldId id="441" r:id="rId33"/>
    <p:sldId id="470" r:id="rId34"/>
    <p:sldId id="421" r:id="rId35"/>
    <p:sldId id="444" r:id="rId36"/>
    <p:sldId id="445" r:id="rId37"/>
    <p:sldId id="446" r:id="rId38"/>
    <p:sldId id="448" r:id="rId39"/>
    <p:sldId id="449" r:id="rId40"/>
    <p:sldId id="451" r:id="rId41"/>
    <p:sldId id="454" r:id="rId42"/>
    <p:sldId id="453" r:id="rId43"/>
    <p:sldId id="452" r:id="rId44"/>
    <p:sldId id="455" r:id="rId45"/>
    <p:sldId id="456" r:id="rId46"/>
    <p:sldId id="457" r:id="rId47"/>
    <p:sldId id="458" r:id="rId48"/>
    <p:sldId id="424" r:id="rId49"/>
    <p:sldId id="459" r:id="rId50"/>
    <p:sldId id="416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D158E4B-363A-418E-9D48-FF9FC80D1B44}">
          <p14:sldIdLst>
            <p14:sldId id="256"/>
            <p14:sldId id="425"/>
            <p14:sldId id="414"/>
            <p14:sldId id="428"/>
            <p14:sldId id="426"/>
            <p14:sldId id="427"/>
            <p14:sldId id="463"/>
            <p14:sldId id="429"/>
            <p14:sldId id="417"/>
            <p14:sldId id="418"/>
            <p14:sldId id="430"/>
          </p14:sldIdLst>
        </p14:section>
        <p14:section name="Design" id="{7B1C782C-A0D9-4606-A147-7820F6F80F58}">
          <p14:sldIdLst>
            <p14:sldId id="460"/>
            <p14:sldId id="462"/>
            <p14:sldId id="422"/>
            <p14:sldId id="468"/>
            <p14:sldId id="464"/>
            <p14:sldId id="461"/>
            <p14:sldId id="465"/>
          </p14:sldIdLst>
        </p14:section>
        <p14:section name="Fetch" id="{15A42B96-A8E2-4785-8320-89BEFCC56236}">
          <p14:sldIdLst>
            <p14:sldId id="431"/>
            <p14:sldId id="432"/>
            <p14:sldId id="433"/>
            <p14:sldId id="434"/>
            <p14:sldId id="435"/>
            <p14:sldId id="443"/>
          </p14:sldIdLst>
        </p14:section>
        <p14:section name="Decode" id="{90D431AA-01D2-4732-B586-53144A63F85E}">
          <p14:sldIdLst>
            <p14:sldId id="436"/>
          </p14:sldIdLst>
        </p14:section>
        <p14:section name="Issue" id="{665288B4-441B-4696-B06D-A829C22348C8}">
          <p14:sldIdLst>
            <p14:sldId id="437"/>
            <p14:sldId id="438"/>
            <p14:sldId id="467"/>
          </p14:sldIdLst>
        </p14:section>
        <p14:section name="U-Vpipe" id="{AB1139F2-C89E-46F9-94CA-5845785A641F}">
          <p14:sldIdLst>
            <p14:sldId id="439"/>
            <p14:sldId id="469"/>
            <p14:sldId id="440"/>
            <p14:sldId id="441"/>
            <p14:sldId id="470"/>
          </p14:sldIdLst>
        </p14:section>
        <p14:section name="Result" id="{57196FBA-5957-4B1C-A667-F642B042462E}">
          <p14:sldIdLst>
            <p14:sldId id="421"/>
            <p14:sldId id="444"/>
            <p14:sldId id="445"/>
            <p14:sldId id="446"/>
            <p14:sldId id="448"/>
            <p14:sldId id="449"/>
            <p14:sldId id="451"/>
            <p14:sldId id="454"/>
            <p14:sldId id="453"/>
            <p14:sldId id="452"/>
            <p14:sldId id="455"/>
            <p14:sldId id="456"/>
            <p14:sldId id="457"/>
            <p14:sldId id="458"/>
          </p14:sldIdLst>
        </p14:section>
        <p14:section name="Conclusion" id="{D9979228-7320-4B86-9BCB-D7B7FD67D724}">
          <p14:sldIdLst>
            <p14:sldId id="424"/>
            <p14:sldId id="459"/>
            <p14:sldId id="4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0272"/>
    <a:srgbClr val="000000"/>
    <a:srgbClr val="3376C7"/>
    <a:srgbClr val="28F82D"/>
    <a:srgbClr val="FFFF71"/>
    <a:srgbClr val="FFFF81"/>
    <a:srgbClr val="72FA75"/>
    <a:srgbClr val="DD48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81863" autoAdjust="0"/>
  </p:normalViewPr>
  <p:slideViewPr>
    <p:cSldViewPr>
      <p:cViewPr varScale="1">
        <p:scale>
          <a:sx n="67" d="100"/>
          <a:sy n="67" d="100"/>
        </p:scale>
        <p:origin x="113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301"/>
    </p:cViewPr>
  </p:sorterViewPr>
  <p:notesViewPr>
    <p:cSldViewPr>
      <p:cViewPr varScale="1">
        <p:scale>
          <a:sx n="63" d="100"/>
          <a:sy n="63" d="100"/>
        </p:scale>
        <p:origin x="3134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G-Share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EF0-4459-9593-5BC253E78A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Factorial(!8)</c:v>
                </c:pt>
                <c:pt idx="1">
                  <c:v>Fibonacci(18)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99.18</c:v>
                </c:pt>
                <c:pt idx="1">
                  <c:v>75.930000000000007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0-4459-9593-5BC253E78A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P-Share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Factorial(!8)</c:v>
                </c:pt>
                <c:pt idx="1">
                  <c:v>Fibonacci(18)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98.63</c:v>
                </c:pt>
                <c:pt idx="1">
                  <c:v>79.709999999999994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F0-4459-9593-5BC253E78A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73937456"/>
        <c:axId val="699362208"/>
      </c:barChart>
      <c:catAx>
        <c:axId val="773937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362208"/>
        <c:crosses val="autoZero"/>
        <c:auto val="1"/>
        <c:lblAlgn val="ctr"/>
        <c:lblOffset val="100"/>
        <c:noMultiLvlLbl val="0"/>
      </c:catAx>
      <c:valAx>
        <c:axId val="699362208"/>
        <c:scaling>
          <c:orientation val="minMax"/>
          <c:max val="100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937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 s New Roman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Normalized Runtime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Single Cycle</c:v>
                </c:pt>
                <c:pt idx="1">
                  <c:v>5 Stage Stalled</c:v>
                </c:pt>
                <c:pt idx="2">
                  <c:v>5 Stage Bypassed</c:v>
                </c:pt>
                <c:pt idx="3">
                  <c:v>7 Stage Bypassed</c:v>
                </c:pt>
                <c:pt idx="4">
                  <c:v>AQUAcore G-Share</c:v>
                </c:pt>
                <c:pt idx="5">
                  <c:v>AQUAcore P-Share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1.5</c:v>
                </c:pt>
                <c:pt idx="2">
                  <c:v>0.84</c:v>
                </c:pt>
                <c:pt idx="3">
                  <c:v>0.68</c:v>
                </c:pt>
                <c:pt idx="4">
                  <c:v>0.56999999999999995</c:v>
                </c:pt>
                <c:pt idx="5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F7-4CA3-B9F5-EA991992A9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73937456"/>
        <c:axId val="699362208"/>
      </c:barChart>
      <c:catAx>
        <c:axId val="773937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362208"/>
        <c:crosses val="autoZero"/>
        <c:auto val="1"/>
        <c:lblAlgn val="ctr"/>
        <c:lblOffset val="100"/>
        <c:noMultiLvlLbl val="0"/>
      </c:catAx>
      <c:valAx>
        <c:axId val="699362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937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Rocket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27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DIU</c:v>
                </c:pt>
                <c:pt idx="1">
                  <c:v>SH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F3-4BCA-B471-C136BBBC9A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BOOM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27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DIU</c:v>
                </c:pt>
                <c:pt idx="1">
                  <c:v>SH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F3-4BCA-B471-C136BBBC9A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AQUAcore G-Share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27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DIU</c:v>
                </c:pt>
                <c:pt idx="1">
                  <c:v>SH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37.200000000000003</c:v>
                </c:pt>
                <c:pt idx="1">
                  <c:v>26.2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F3-4BCA-B471-C136BBBC9A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AQUAcore P-Share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27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DIU</c:v>
                </c:pt>
                <c:pt idx="1">
                  <c:v>SH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37.4</c:v>
                </c:pt>
                <c:pt idx="1">
                  <c:v>25.8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F3-4BCA-B471-C136BBBC9A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773937456"/>
        <c:axId val="699362208"/>
      </c:barChart>
      <c:catAx>
        <c:axId val="773937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362208"/>
        <c:crosses val="autoZero"/>
        <c:auto val="1"/>
        <c:lblAlgn val="ctr"/>
        <c:lblOffset val="100"/>
        <c:noMultiLvlLbl val="0"/>
      </c:catAx>
      <c:valAx>
        <c:axId val="699362208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937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 s New Roman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464EC3-3EB2-4410-AE7B-0063F9034F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08993-1051-46FD-876F-4CD2A97404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99B479C-9FCF-4112-9D25-567E3FDC5586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36908-C5E6-465E-85BC-0B388F96E4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39116-C431-4463-BFBD-E5E389BB66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2553959-D1FA-4EB9-BDD9-EFC1446312C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E44AB00-16C6-4547-A1AE-BE1575933F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8C474EC-A209-4F68-944A-5437C9C14D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DD2EA6F1-F7AF-4D32-81B7-78AD9016B72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EC7B288C-421F-4722-8EF4-F282BA2067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0EAEB2CC-660F-48EF-90D0-317302F202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90A979D2-6D9D-464E-A41B-2290ECDADC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BA4B024-3F80-4CC6-9356-85CB252A50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4B024-3F80-4CC6-9356-85CB252A50F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903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0D622-DF08-49E9-86D8-33709399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A864E-B1FB-4634-A0B4-B19BB026E1E9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1466A-8F74-4A1F-8ADF-A7191253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B4007-2B9B-498D-8175-9F25CD5E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1EDCE1-4AD4-4FA5-8CCA-8D0A62CDFF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757900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Logo_hcmut">
            <a:extLst>
              <a:ext uri="{FF2B5EF4-FFF2-40B4-BE49-F238E27FC236}">
                <a16:creationId xmlns:a16="http://schemas.microsoft.com/office/drawing/2014/main" id="{A3DD88D9-BBB0-4441-A7A1-6DBFA225E7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3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21000"/>
              </a:srgbClr>
            </a:outerShdw>
          </a:effectLst>
        </p:spPr>
      </p:pic>
      <p:sp>
        <p:nvSpPr>
          <p:cNvPr id="5" name="Text Box 11">
            <a:extLst>
              <a:ext uri="{FF2B5EF4-FFF2-40B4-BE49-F238E27FC236}">
                <a16:creationId xmlns:a16="http://schemas.microsoft.com/office/drawing/2014/main" id="{AB6E197A-4A08-4CF7-A52F-F75F29A2DF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59162" y="6492875"/>
            <a:ext cx="1854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002060"/>
                </a:solidFill>
                <a:latin typeface="Arial" charset="0"/>
              </a:rPr>
              <a:t>CAO </a:t>
            </a:r>
            <a:r>
              <a:rPr lang="vi-VN" sz="1600" b="1" dirty="0">
                <a:solidFill>
                  <a:srgbClr val="002060"/>
                </a:solidFill>
                <a:latin typeface="Arial" charset="0"/>
              </a:rPr>
              <a:t>XUÂN HẢI</a:t>
            </a:r>
            <a:endParaRPr lang="en-US" sz="1600" b="1" dirty="0">
              <a:solidFill>
                <a:srgbClr val="002060"/>
              </a:solidFill>
              <a:latin typeface="Arial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470F5A-E0A1-4CEB-B124-2D44D7762974}"/>
              </a:ext>
            </a:extLst>
          </p:cNvPr>
          <p:cNvCxnSpPr/>
          <p:nvPr userDrawn="1"/>
        </p:nvCxnSpPr>
        <p:spPr>
          <a:xfrm>
            <a:off x="152400" y="990600"/>
            <a:ext cx="8839200" cy="0"/>
          </a:xfrm>
          <a:prstGeom prst="line">
            <a:avLst/>
          </a:prstGeom>
          <a:ln w="50800" cmpd="sng">
            <a:solidFill>
              <a:srgbClr val="0070C0"/>
            </a:solidFill>
            <a:bevel/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1">
            <a:extLst>
              <a:ext uri="{FF2B5EF4-FFF2-40B4-BE49-F238E27FC236}">
                <a16:creationId xmlns:a16="http://schemas.microsoft.com/office/drawing/2014/main" id="{410D03E4-5B47-4A67-AF54-527FC95354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6519863"/>
            <a:ext cx="31242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dirty="0" err="1">
                <a:solidFill>
                  <a:srgbClr val="002060"/>
                </a:solidFill>
                <a:latin typeface="Arial" charset="0"/>
              </a:rPr>
              <a:t>Bộ</a:t>
            </a:r>
            <a:r>
              <a:rPr lang="en-US" sz="160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Arial" charset="0"/>
              </a:rPr>
              <a:t>môn</a:t>
            </a:r>
            <a:r>
              <a:rPr lang="en-US" sz="160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Arial" charset="0"/>
              </a:rPr>
              <a:t>Kỹ</a:t>
            </a:r>
            <a:r>
              <a:rPr lang="en-US" sz="160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Arial" charset="0"/>
              </a:rPr>
              <a:t>Thuật</a:t>
            </a:r>
            <a:r>
              <a:rPr lang="en-US" sz="160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Arial" charset="0"/>
              </a:rPr>
              <a:t>Điện</a:t>
            </a:r>
            <a:r>
              <a:rPr lang="en-US" sz="1600" dirty="0">
                <a:solidFill>
                  <a:srgbClr val="002060"/>
                </a:solidFill>
                <a:latin typeface="Arial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Arial" charset="0"/>
              </a:rPr>
              <a:t>Tử</a:t>
            </a:r>
            <a:r>
              <a:rPr lang="en-US" sz="1600" dirty="0">
                <a:solidFill>
                  <a:srgbClr val="002060"/>
                </a:solidFill>
                <a:latin typeface="Arial" charset="0"/>
              </a:rPr>
              <a:t>-LVTN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94F7CF34-4FD0-4A1C-9C96-452EF9333B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00738" y="6454775"/>
            <a:ext cx="2743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vi-VN" sz="1600" dirty="0">
                <a:solidFill>
                  <a:srgbClr val="002060"/>
                </a:solidFill>
                <a:latin typeface="Arial" charset="0"/>
              </a:rPr>
              <a:t>08/01/2020</a:t>
            </a:r>
            <a:endParaRPr lang="en-US" sz="1600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001000" cy="7159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8001000" cy="5135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EADBDFD-5EEB-4DE0-B1B1-8783F3A5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7A5D49F2-4439-40B3-8621-461857DE00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14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51AB-EBF3-4C80-8091-64ED33DB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3EDC2-8217-4256-96F7-53B62E351AD1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CE1E1-4BDB-43EF-8F85-9BE60CD6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CE119-6B1E-484F-B7B7-F564105F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3DE5F-97BA-4910-A62B-8E89FAE1A4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77212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8B2ED5-EE0F-4597-97F9-8632C6ED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04466-0D30-41B7-896F-B34117837382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C7BEF6-58CC-47DA-A67C-52353E21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0FA27B-113B-46CA-80B9-6B333FB9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B7390B-2882-4FA0-B401-27A1AD7DD0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42895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47B204-BC06-47E0-81CF-6CCA4D0A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79BC6-287A-43AC-8039-954420CC36EB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1E7C604-9284-4311-8023-AB49288B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404A39-6BEB-48CD-A61F-21AB4A88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7B7B15-7CE5-4B04-9B13-C6AE3C220E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844490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025E449-38C8-4D5A-A2A7-E3F32A6A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D7F4E6-8944-420D-9DE8-40BBFB57EE4B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64E7D98-8DAA-43D9-92A6-32CC6F28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DBE523-B071-47C1-ACAA-9DC60F75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848FD3-4829-4070-85C4-46AD3C341E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532114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53D23C2-73F9-4973-8A6A-D6B5D078A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54FFA-91A5-4329-8BF0-968553627853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677199-E773-432F-9809-0035E962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FFDCE1-536B-4ED6-ABFA-41E30FEA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B93EC-2FD5-43C0-A4E3-D0978B5A76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58800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26B4193-B7FF-4334-ACD8-1C634D21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4B243-7793-4DDC-8CA4-0A686BAFA4EE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C7DCDC1-6D77-4C5E-92E4-72F980FC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B9B4BD3-4323-4D76-9F0E-6B16F6BD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6A82F-3D90-49F8-9E64-8A6828CA80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27386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9341D9-BC4B-4E8E-A416-2DB535B7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4BFFC-29EE-41C4-AAAF-F659A13E9F5C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C17980-E202-4AC6-927E-9BE63DBC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032698F-824C-4D42-A0C6-AAAFFF06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DF718A-5EE9-4849-8AFB-FAF01954A3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013334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548F9-5B4C-4392-8DDE-81778103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04E0E-E5EC-4EDB-9AB3-23022DB25677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8537C-94AA-41DD-9021-5114C125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648A9-4F6F-45C5-90F7-E6E1D768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2A6167-B604-4F31-A3A3-D20682A63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4026674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0A722-B77C-4CE3-A6B0-A9CDFDA3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397E0-687B-4D91-9F5B-1C4F8C32AE3D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71131-68DF-4C17-A622-D0C95B25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E7920-9A5C-4747-9D6B-6774CF1D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6F9C6F-1069-4CE7-919F-B940FBC4D7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70013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3">
            <a:extLst>
              <a:ext uri="{FF2B5EF4-FFF2-40B4-BE49-F238E27FC236}">
                <a16:creationId xmlns:a16="http://schemas.microsoft.com/office/drawing/2014/main" id="{8F4D08A8-82B9-4401-BA0E-0AED3928B0F5}"/>
              </a:ext>
            </a:extLst>
          </p:cNvPr>
          <p:cNvSpPr>
            <a:spLocks/>
          </p:cNvSpPr>
          <p:nvPr/>
        </p:nvSpPr>
        <p:spPr bwMode="gray">
          <a:xfrm>
            <a:off x="0" y="381000"/>
            <a:ext cx="9131300" cy="914400"/>
          </a:xfrm>
          <a:custGeom>
            <a:avLst/>
            <a:gdLst>
              <a:gd name="T0" fmla="*/ 9120188 w 5752"/>
              <a:gd name="T1" fmla="*/ 18535 h 444"/>
              <a:gd name="T2" fmla="*/ 3887788 w 5752"/>
              <a:gd name="T3" fmla="*/ 16476 h 444"/>
              <a:gd name="T4" fmla="*/ 3725863 w 5752"/>
              <a:gd name="T5" fmla="*/ 28832 h 444"/>
              <a:gd name="T6" fmla="*/ 3451225 w 5752"/>
              <a:gd name="T7" fmla="*/ 191530 h 444"/>
              <a:gd name="T8" fmla="*/ 3248025 w 5752"/>
              <a:gd name="T9" fmla="*/ 261551 h 444"/>
              <a:gd name="T10" fmla="*/ 0 w 5752"/>
              <a:gd name="T11" fmla="*/ 245076 h 444"/>
              <a:gd name="T12" fmla="*/ 0 w 5752"/>
              <a:gd name="T13" fmla="*/ 914400 h 444"/>
              <a:gd name="T14" fmla="*/ 5716588 w 5752"/>
              <a:gd name="T15" fmla="*/ 914400 h 444"/>
              <a:gd name="T16" fmla="*/ 5829300 w 5752"/>
              <a:gd name="T17" fmla="*/ 873211 h 444"/>
              <a:gd name="T18" fmla="*/ 6164263 w 5752"/>
              <a:gd name="T19" fmla="*/ 681681 h 444"/>
              <a:gd name="T20" fmla="*/ 6326188 w 5752"/>
              <a:gd name="T21" fmla="*/ 669324 h 444"/>
              <a:gd name="T22" fmla="*/ 9131300 w 5752"/>
              <a:gd name="T23" fmla="*/ 669324 h 444"/>
              <a:gd name="T24" fmla="*/ 9120188 w 5752"/>
              <a:gd name="T25" fmla="*/ 18535 h 4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Freeform 39">
            <a:extLst>
              <a:ext uri="{FF2B5EF4-FFF2-40B4-BE49-F238E27FC236}">
                <a16:creationId xmlns:a16="http://schemas.microsoft.com/office/drawing/2014/main" id="{F9E0C20F-4401-4B08-9CCC-3BB783BC31D8}"/>
              </a:ext>
            </a:extLst>
          </p:cNvPr>
          <p:cNvSpPr>
            <a:spLocks/>
          </p:cNvSpPr>
          <p:nvPr/>
        </p:nvSpPr>
        <p:spPr bwMode="gray">
          <a:xfrm>
            <a:off x="0" y="6346825"/>
            <a:ext cx="9131300" cy="511175"/>
          </a:xfrm>
          <a:custGeom>
            <a:avLst/>
            <a:gdLst>
              <a:gd name="T0" fmla="*/ 9120188 w 5752"/>
              <a:gd name="T1" fmla="*/ 10362 h 444"/>
              <a:gd name="T2" fmla="*/ 3887788 w 5752"/>
              <a:gd name="T3" fmla="*/ 9210 h 444"/>
              <a:gd name="T4" fmla="*/ 3725863 w 5752"/>
              <a:gd name="T5" fmla="*/ 16118 h 444"/>
              <a:gd name="T6" fmla="*/ 3451225 w 5752"/>
              <a:gd name="T7" fmla="*/ 107070 h 444"/>
              <a:gd name="T8" fmla="*/ 3248025 w 5752"/>
              <a:gd name="T9" fmla="*/ 146214 h 444"/>
              <a:gd name="T10" fmla="*/ 0 w 5752"/>
              <a:gd name="T11" fmla="*/ 137004 h 444"/>
              <a:gd name="T12" fmla="*/ 0 w 5752"/>
              <a:gd name="T13" fmla="*/ 511175 h 444"/>
              <a:gd name="T14" fmla="*/ 5716588 w 5752"/>
              <a:gd name="T15" fmla="*/ 511175 h 444"/>
              <a:gd name="T16" fmla="*/ 5829300 w 5752"/>
              <a:gd name="T17" fmla="*/ 488149 h 444"/>
              <a:gd name="T18" fmla="*/ 6164263 w 5752"/>
              <a:gd name="T19" fmla="*/ 381079 h 444"/>
              <a:gd name="T20" fmla="*/ 6326188 w 5752"/>
              <a:gd name="T21" fmla="*/ 374171 h 444"/>
              <a:gd name="T22" fmla="*/ 9131300 w 5752"/>
              <a:gd name="T23" fmla="*/ 374171 h 444"/>
              <a:gd name="T24" fmla="*/ 9120188 w 5752"/>
              <a:gd name="T25" fmla="*/ 10362 h 44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13" descr="Logo_hcmut">
            <a:extLst>
              <a:ext uri="{FF2B5EF4-FFF2-40B4-BE49-F238E27FC236}">
                <a16:creationId xmlns:a16="http://schemas.microsoft.com/office/drawing/2014/main" id="{17D6DD8B-20DA-4424-A8FE-B4E726B0CB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467600" y="190500"/>
            <a:ext cx="156210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21000"/>
              </a:srgbClr>
            </a:outerShdw>
          </a:effec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7569806B-492B-419F-AFC3-1A9A3378E5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06363" y="350838"/>
            <a:ext cx="9326563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solidFill>
                  <a:srgbClr val="170272"/>
                </a:solidFill>
              </a:rPr>
              <a:t>ĐẠI HỌC QUỐC GIA TP.HỒ CHÍ MINH</a:t>
            </a:r>
          </a:p>
          <a:p>
            <a:pPr algn="ctr" eaLnBrk="1" hangingPunct="1"/>
            <a:r>
              <a:rPr lang="en-US" altLang="en-US" sz="2400" b="1">
                <a:solidFill>
                  <a:srgbClr val="170272"/>
                </a:solidFill>
              </a:rPr>
              <a:t>TRƯỜNG ĐẠI HỌC BÁCH KHOA</a:t>
            </a:r>
          </a:p>
          <a:p>
            <a:pPr algn="ctr" eaLnBrk="1" hangingPunct="1"/>
            <a:r>
              <a:rPr lang="en-US" altLang="en-US" sz="2200" b="1">
                <a:solidFill>
                  <a:srgbClr val="170272"/>
                </a:solidFill>
              </a:rPr>
              <a:t>KHOA ĐIỆN-ĐIỆN TỬ </a:t>
            </a:r>
          </a:p>
          <a:p>
            <a:pPr algn="ctr" eaLnBrk="1" hangingPunct="1"/>
            <a:r>
              <a:rPr lang="en-US" altLang="en-US" sz="2000" b="1">
                <a:solidFill>
                  <a:srgbClr val="170272"/>
                </a:solidFill>
              </a:rPr>
              <a:t>BỘ MÔN KỸ THUẬT ĐIỆN TỬ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57485FC-9C6E-49E4-B961-36432A3E92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52800" y="6096000"/>
            <a:ext cx="289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36CC3CEB-634A-4A33-968A-DCF93CAA142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14600" y="6453188"/>
            <a:ext cx="6629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1" dirty="0" err="1">
                <a:solidFill>
                  <a:srgbClr val="2F6ACB"/>
                </a:solidFill>
              </a:rPr>
              <a:t>TP.Hồ</a:t>
            </a:r>
            <a:r>
              <a:rPr lang="en-US" altLang="en-US" sz="1400" b="1" dirty="0">
                <a:solidFill>
                  <a:srgbClr val="2F6ACB"/>
                </a:solidFill>
              </a:rPr>
              <a:t> </a:t>
            </a:r>
            <a:r>
              <a:rPr lang="en-US" altLang="en-US" sz="1400" b="1" dirty="0" err="1">
                <a:solidFill>
                  <a:srgbClr val="2F6ACB"/>
                </a:solidFill>
              </a:rPr>
              <a:t>Chí</a:t>
            </a:r>
            <a:r>
              <a:rPr lang="en-US" altLang="en-US" sz="1400" b="1" dirty="0">
                <a:solidFill>
                  <a:srgbClr val="2F6ACB"/>
                </a:solidFill>
              </a:rPr>
              <a:t> Minh  08/01/2020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A1C87251-97DE-4D39-8956-F8E4796D83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438400"/>
            <a:ext cx="9144000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600" b="1" dirty="0">
                <a:solidFill>
                  <a:srgbClr val="3376C7"/>
                </a:solidFill>
              </a:rPr>
              <a:t>LUẬN VĂN TỐT NGHIỆP</a:t>
            </a:r>
          </a:p>
          <a:p>
            <a:pPr algn="ctr" eaLnBrk="1" hangingPunct="1"/>
            <a:endParaRPr lang="en-US" altLang="en-US" sz="2000" b="1" dirty="0">
              <a:solidFill>
                <a:srgbClr val="3376C7"/>
              </a:solidFill>
            </a:endParaRPr>
          </a:p>
          <a:p>
            <a:pPr algn="ctr" eaLnBrk="1" hangingPunct="1"/>
            <a:r>
              <a:rPr lang="en-US" altLang="en-US" sz="3200" b="1" dirty="0">
                <a:solidFill>
                  <a:srgbClr val="3376C7"/>
                </a:solidFill>
              </a:rPr>
              <a:t>DESIGN OF A 32-BIT RISC-V PROCESSOR</a:t>
            </a:r>
          </a:p>
          <a:p>
            <a:pPr algn="ctr" eaLnBrk="1" hangingPunct="1"/>
            <a:r>
              <a:rPr lang="en-US" altLang="en-US" sz="3200" b="1" dirty="0">
                <a:solidFill>
                  <a:srgbClr val="3376C7"/>
                </a:solidFill>
              </a:rPr>
              <a:t>THIẾT KẾ CPU RISC-V 32-BIT </a:t>
            </a:r>
          </a:p>
          <a:p>
            <a:pPr algn="ctr" eaLnBrk="1" hangingPunct="1"/>
            <a:endParaRPr lang="en-US" altLang="en-US" sz="2000" b="1" dirty="0">
              <a:solidFill>
                <a:srgbClr val="3376C7"/>
              </a:solidFill>
            </a:endParaRPr>
          </a:p>
          <a:p>
            <a:pPr algn="ctr" eaLnBrk="1" hangingPunct="1"/>
            <a:r>
              <a:rPr lang="en-US" altLang="en-US" sz="2400" b="1" dirty="0">
                <a:solidFill>
                  <a:srgbClr val="3376C7"/>
                </a:solidFill>
              </a:rPr>
              <a:t>GVHD: T.S. </a:t>
            </a:r>
            <a:r>
              <a:rPr lang="vi-VN" altLang="en-US" sz="2400" b="1" dirty="0">
                <a:solidFill>
                  <a:srgbClr val="3376C7"/>
                </a:solidFill>
              </a:rPr>
              <a:t>TRẦN HOÀNG LINH</a:t>
            </a:r>
            <a:endParaRPr lang="en-US" altLang="en-US" sz="2400" b="1" dirty="0">
              <a:solidFill>
                <a:srgbClr val="3376C7"/>
              </a:solidFill>
            </a:endParaRPr>
          </a:p>
          <a:p>
            <a:pPr algn="ctr" eaLnBrk="1" hangingPunct="1"/>
            <a:r>
              <a:rPr lang="en-US" altLang="en-US" sz="2400" b="1" dirty="0">
                <a:solidFill>
                  <a:srgbClr val="3376C7"/>
                </a:solidFill>
              </a:rPr>
              <a:t>SV:</a:t>
            </a:r>
            <a:r>
              <a:rPr lang="vi-VN" altLang="en-US" sz="2400" b="1" dirty="0">
                <a:solidFill>
                  <a:srgbClr val="3376C7"/>
                </a:solidFill>
              </a:rPr>
              <a:t> CAO XUÂN HẢI</a:t>
            </a:r>
            <a:endParaRPr lang="en-US" altLang="en-US" sz="2400" b="1" dirty="0">
              <a:solidFill>
                <a:srgbClr val="3376C7"/>
              </a:solidFill>
            </a:endParaRPr>
          </a:p>
          <a:p>
            <a:pPr algn="ctr" eaLnBrk="1" hangingPunct="1"/>
            <a:r>
              <a:rPr lang="en-US" altLang="en-US" sz="2400" b="1" dirty="0">
                <a:solidFill>
                  <a:srgbClr val="3376C7"/>
                </a:solidFill>
              </a:rPr>
              <a:t>MSSV:</a:t>
            </a:r>
            <a:r>
              <a:rPr lang="vi-VN" altLang="en-US" sz="2400" b="1" dirty="0">
                <a:solidFill>
                  <a:srgbClr val="3376C7"/>
                </a:solidFill>
              </a:rPr>
              <a:t> 1510903</a:t>
            </a:r>
            <a:endParaRPr lang="en-US" altLang="en-US" sz="2400" b="1" dirty="0">
              <a:solidFill>
                <a:srgbClr val="3376C7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63050-3C88-4485-AD2C-2B2B5220258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10350"/>
            <a:ext cx="381000" cy="247650"/>
          </a:xfrm>
        </p:spPr>
        <p:txBody>
          <a:bodyPr/>
          <a:lstStyle>
            <a:lvl1pPr>
              <a:defRPr sz="1000"/>
            </a:lvl1pPr>
          </a:lstStyle>
          <a:p>
            <a:fld id="{154ECEBA-D9EE-47E0-B25D-3CF85AE275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668435"/>
      </p:ext>
    </p:ext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2958A5FC-414B-45EA-95F5-5A88362F411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287E7701-7DAA-4B6B-831C-64A0210AD7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8D1BC-2839-448D-A2D3-F7C5F91DF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0BB4D8F9-CDB2-4B0B-B59C-7A9625DC0648}" type="datetimeFigureOut">
              <a:rPr lang="en-US"/>
              <a:pPr>
                <a:defRPr/>
              </a:pPr>
              <a:t>1/7/2020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C2A14-A45B-40F7-9AD4-4C5640EBE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692F-9C7C-4855-91D5-D74983F7E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D832C66-B92A-44FE-8942-6733FDC2B9C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4007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8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3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slide" Target="slide26.xml"/><Relationship Id="rId4" Type="http://schemas.openxmlformats.org/officeDocument/2006/relationships/slide" Target="slide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23.xml"/><Relationship Id="rId4" Type="http://schemas.openxmlformats.org/officeDocument/2006/relationships/slide" Target="slide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1">
            <a:extLst>
              <a:ext uri="{FF2B5EF4-FFF2-40B4-BE49-F238E27FC236}">
                <a16:creationId xmlns:a16="http://schemas.microsoft.com/office/drawing/2014/main" id="{293FD7FD-EFA1-440B-8590-8F2DE28924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31A9F7-646E-4D38-85E7-F1C678835A4C}" type="slidenum">
              <a:rPr lang="en-US" altLang="en-US">
                <a:solidFill>
                  <a:srgbClr val="898989"/>
                </a:solidFill>
              </a:rPr>
              <a:pPr eaLnBrk="1" hangingPunct="1"/>
              <a:t>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8195" name="Slide Number Placeholder 2">
            <a:extLst>
              <a:ext uri="{FF2B5EF4-FFF2-40B4-BE49-F238E27FC236}">
                <a16:creationId xmlns:a16="http://schemas.microsoft.com/office/drawing/2014/main" id="{6863F274-5E6E-49BD-A1EE-29D551DC15FF}"/>
              </a:ext>
            </a:extLst>
          </p:cNvPr>
          <p:cNvSpPr txBox="1">
            <a:spLocks noGrp="1"/>
          </p:cNvSpPr>
          <p:nvPr/>
        </p:nvSpPr>
        <p:spPr bwMode="gray">
          <a:xfrm>
            <a:off x="0" y="6610350"/>
            <a:ext cx="3810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8390631-1F46-42FF-8CBF-A615E833AE82}" type="slidenum">
              <a:rPr lang="en-US" altLang="en-US" sz="1000"/>
              <a:pPr algn="r" eaLnBrk="1" hangingPunct="1"/>
              <a:t>1</a:t>
            </a:fld>
            <a:endParaRPr lang="en-US" altLang="en-US" sz="10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161BAA6-92AB-4CF4-930A-2D299E6F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>
                <a:solidFill>
                  <a:srgbClr val="3376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b="1" dirty="0">
                <a:solidFill>
                  <a:srgbClr val="3376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7DDD9-A44E-4464-A4DF-C621EE336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2027237"/>
            <a:ext cx="5334000" cy="34290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cứng</a:t>
            </a:r>
            <a:endParaRPr lang="vi-V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D4E6-4CA8-414F-B48B-0550DC16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A2F00F-600A-4BC0-A51E-F573EB162170}" type="slidenum">
              <a:rPr lang="en-US" altLang="en-US">
                <a:solidFill>
                  <a:srgbClr val="898989"/>
                </a:solidFill>
              </a:rPr>
              <a:pPr eaLnBrk="1" hangingPunct="1"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1CEF5A5-DCA0-4600-BCDD-4BF6E211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5738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Giới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thiệu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quan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C83160C-01F3-4718-9135-223B63335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FA3815-2BB3-4AC4-9A04-A3EC7C52F82E}" type="slidenum">
              <a:rPr lang="en-US" altLang="en-US">
                <a:solidFill>
                  <a:srgbClr val="898989"/>
                </a:solidFill>
              </a:rPr>
              <a:pPr eaLnBrk="1" hangingPunct="1"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5" name="Picture 4" descr="A picture containing meter, black&#10;&#10;Description automatically generated">
            <a:extLst>
              <a:ext uri="{FF2B5EF4-FFF2-40B4-BE49-F238E27FC236}">
                <a16:creationId xmlns:a16="http://schemas.microsoft.com/office/drawing/2014/main" id="{3355BEC9-7C43-4526-9D84-633168508E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1" r="15567"/>
          <a:stretch/>
        </p:blipFill>
        <p:spPr>
          <a:xfrm>
            <a:off x="-22860" y="-1"/>
            <a:ext cx="9166860" cy="6875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1CEF5A5-DCA0-4600-BCDD-4BF6E211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5738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Giới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thiệu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quan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C83160C-01F3-4718-9135-223B63335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FA3815-2BB3-4AC4-9A04-A3EC7C52F82E}" type="slidenum">
              <a:rPr lang="en-US" altLang="en-US">
                <a:solidFill>
                  <a:srgbClr val="898989"/>
                </a:solidFill>
              </a:rPr>
              <a:pPr eaLnBrk="1" hangingPunct="1"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67B28-77E2-4A99-80FD-4C3E7647E13F}"/>
              </a:ext>
            </a:extLst>
          </p:cNvPr>
          <p:cNvSpPr txBox="1"/>
          <p:nvPr/>
        </p:nvSpPr>
        <p:spPr>
          <a:xfrm>
            <a:off x="1178505" y="2644170"/>
            <a:ext cx="22092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200" dirty="0"/>
              <a:t>Tốc độ</a:t>
            </a:r>
          </a:p>
          <a:p>
            <a:r>
              <a:rPr lang="vi-VN" sz="3200" dirty="0"/>
              <a:t>Công suất</a:t>
            </a:r>
          </a:p>
          <a:p>
            <a:r>
              <a:rPr lang="vi-VN" sz="3200" dirty="0"/>
              <a:t>Kích thước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4B6A0-ED64-4B3E-952A-A401B36A99D5}"/>
              </a:ext>
            </a:extLst>
          </p:cNvPr>
          <p:cNvSpPr txBox="1"/>
          <p:nvPr/>
        </p:nvSpPr>
        <p:spPr>
          <a:xfrm>
            <a:off x="5984502" y="3013501"/>
            <a:ext cx="1483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800" b="1" dirty="0"/>
              <a:t>CPU</a:t>
            </a:r>
            <a:endParaRPr lang="en-US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55E79B-0DEF-410C-8085-9F4817928363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387764" y="3429000"/>
            <a:ext cx="2596738" cy="0"/>
          </a:xfrm>
          <a:prstGeom prst="straightConnector1">
            <a:avLst/>
          </a:prstGeom>
          <a:ln w="57150">
            <a:solidFill>
              <a:srgbClr val="0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4315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1CEF5A5-DCA0-4600-BCDD-4BF6E211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5738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Giới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thiệu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quan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C83160C-01F3-4718-9135-223B63335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FA3815-2BB3-4AC4-9A04-A3EC7C52F82E}" type="slidenum">
              <a:rPr lang="en-US" altLang="en-US">
                <a:solidFill>
                  <a:srgbClr val="898989"/>
                </a:solidFill>
              </a:rPr>
              <a:pPr eaLnBrk="1" hangingPunct="1"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FDBB-9B90-4845-9907-BA3E4CF19CDE}"/>
              </a:ext>
            </a:extLst>
          </p:cNvPr>
          <p:cNvSpPr txBox="1"/>
          <p:nvPr/>
        </p:nvSpPr>
        <p:spPr>
          <a:xfrm>
            <a:off x="143575" y="2890391"/>
            <a:ext cx="8962325" cy="1232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 dirty="0"/>
              <a:t>Cấu trúc tập lệnh (CISC, RISC)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dirty="0"/>
              <a:t>Cấu trúc CPU (Pipeline, VLIW, Superscalar...)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598403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1CEF5A5-DCA0-4600-BCDD-4BF6E211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5738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Giới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thiệu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quan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C83160C-01F3-4718-9135-223B63335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FA3815-2BB3-4AC4-9A04-A3EC7C52F82E}" type="slidenum">
              <a:rPr lang="en-US" altLang="en-US">
                <a:solidFill>
                  <a:srgbClr val="898989"/>
                </a:solidFill>
              </a:rPr>
              <a:pPr eaLnBrk="1" hangingPunct="1"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" name="Picture 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B8250994-02C9-4802-A936-F5A5CD39D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905000"/>
            <a:ext cx="8153400" cy="1295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18701-9409-473C-9D11-9A59BBB19490}"/>
              </a:ext>
            </a:extLst>
          </p:cNvPr>
          <p:cNvSpPr txBox="1"/>
          <p:nvPr/>
        </p:nvSpPr>
        <p:spPr>
          <a:xfrm>
            <a:off x="2797315" y="3962400"/>
            <a:ext cx="354937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800" dirty="0"/>
              <a:t>Open-source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800" dirty="0"/>
              <a:t>Đơn giản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800" dirty="0"/>
              <a:t>Xu hướng hiện nay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3734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1CEF5A5-DCA0-4600-BCDD-4BF6E211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5738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Giới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thiệu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quan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C83160C-01F3-4718-9135-223B63335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FA3815-2BB3-4AC4-9A04-A3EC7C52F82E}" type="slidenum">
              <a:rPr lang="en-US" altLang="en-US">
                <a:solidFill>
                  <a:srgbClr val="898989"/>
                </a:solidFill>
              </a:rPr>
              <a:pPr eaLnBrk="1" hangingPunct="1"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06E5B-1CC1-44A9-8EE5-9EB9FA69DF99}"/>
              </a:ext>
            </a:extLst>
          </p:cNvPr>
          <p:cNvSpPr txBox="1"/>
          <p:nvPr/>
        </p:nvSpPr>
        <p:spPr>
          <a:xfrm>
            <a:off x="1902839" y="2054324"/>
            <a:ext cx="5338321" cy="3347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400" dirty="0"/>
              <a:t>Berkeley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BOOM (2017(v1), 2019(v2.2.2))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Rocket (2016)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Z-Scale...</a:t>
            </a:r>
          </a:p>
          <a:p>
            <a:pPr>
              <a:lnSpc>
                <a:spcPct val="150000"/>
              </a:lnSpc>
            </a:pPr>
            <a:r>
              <a:rPr lang="vi-VN" sz="2400" dirty="0"/>
              <a:t>Boston University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BRISCV (2019)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8478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1CEF5A5-DCA0-4600-BCDD-4BF6E211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5738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Giới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thiệu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quan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C83160C-01F3-4718-9135-223B63335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FA3815-2BB3-4AC4-9A04-A3EC7C52F82E}" type="slidenum">
              <a:rPr lang="en-US" altLang="en-US">
                <a:solidFill>
                  <a:srgbClr val="898989"/>
                </a:solidFill>
              </a:rPr>
              <a:pPr eaLnBrk="1" hangingPunct="1"/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7DB9F6-A7C3-405B-B92B-5A7CFA006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871027"/>
              </p:ext>
            </p:extLst>
          </p:nvPr>
        </p:nvGraphicFramePr>
        <p:xfrm>
          <a:off x="316786" y="2133600"/>
          <a:ext cx="8510427" cy="25858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989">
                  <a:extLst>
                    <a:ext uri="{9D8B030D-6E8A-4147-A177-3AD203B41FA5}">
                      <a16:colId xmlns:a16="http://schemas.microsoft.com/office/drawing/2014/main" val="1551889476"/>
                    </a:ext>
                  </a:extLst>
                </a:gridCol>
                <a:gridCol w="1832825">
                  <a:extLst>
                    <a:ext uri="{9D8B030D-6E8A-4147-A177-3AD203B41FA5}">
                      <a16:colId xmlns:a16="http://schemas.microsoft.com/office/drawing/2014/main" val="1264599899"/>
                    </a:ext>
                  </a:extLst>
                </a:gridCol>
                <a:gridCol w="1022399">
                  <a:extLst>
                    <a:ext uri="{9D8B030D-6E8A-4147-A177-3AD203B41FA5}">
                      <a16:colId xmlns:a16="http://schemas.microsoft.com/office/drawing/2014/main" val="3237378686"/>
                    </a:ext>
                  </a:extLst>
                </a:gridCol>
                <a:gridCol w="1097525">
                  <a:extLst>
                    <a:ext uri="{9D8B030D-6E8A-4147-A177-3AD203B41FA5}">
                      <a16:colId xmlns:a16="http://schemas.microsoft.com/office/drawing/2014/main" val="1393366607"/>
                    </a:ext>
                  </a:extLst>
                </a:gridCol>
                <a:gridCol w="1207095">
                  <a:extLst>
                    <a:ext uri="{9D8B030D-6E8A-4147-A177-3AD203B41FA5}">
                      <a16:colId xmlns:a16="http://schemas.microsoft.com/office/drawing/2014/main" val="3691784532"/>
                    </a:ext>
                  </a:extLst>
                </a:gridCol>
                <a:gridCol w="1122386">
                  <a:extLst>
                    <a:ext uri="{9D8B030D-6E8A-4147-A177-3AD203B41FA5}">
                      <a16:colId xmlns:a16="http://schemas.microsoft.com/office/drawing/2014/main" val="3224436740"/>
                    </a:ext>
                  </a:extLst>
                </a:gridCol>
                <a:gridCol w="1101208">
                  <a:extLst>
                    <a:ext uri="{9D8B030D-6E8A-4147-A177-3AD203B41FA5}">
                      <a16:colId xmlns:a16="http://schemas.microsoft.com/office/drawing/2014/main" val="1571194629"/>
                    </a:ext>
                  </a:extLst>
                </a:gridCol>
              </a:tblGrid>
              <a:tr h="76118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core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isa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pipeline stages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out-of-order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branch prediction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caches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dirty="0">
                          <a:effectLst/>
                        </a:rPr>
                        <a:t>issue width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1954654"/>
                  </a:ext>
                </a:extLst>
              </a:tr>
              <a:tr h="53421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Rocket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RV32/64/MAFD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In-order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Yes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Yes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404995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BOOM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RV64MAFD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Out-of-Order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Yes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Yes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1,2,4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9716536"/>
                  </a:ext>
                </a:extLst>
              </a:tr>
              <a:tr h="4522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Z-Scale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RV32IM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In-order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No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Yes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2574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561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694DFDC-B9D3-434C-815F-A2D039414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4953000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Nhiệm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vụ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đề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tài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C40196E-0F50-4430-9B21-4C8FB89590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986A19-44A5-4182-B896-297F4B11BD22}" type="slidenum">
              <a:rPr lang="en-US" altLang="en-US">
                <a:solidFill>
                  <a:srgbClr val="898989"/>
                </a:solidFill>
              </a:rPr>
              <a:pPr eaLnBrk="1" hangingPunct="1"/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1268" name="TextBox 47">
            <a:extLst>
              <a:ext uri="{FF2B5EF4-FFF2-40B4-BE49-F238E27FC236}">
                <a16:creationId xmlns:a16="http://schemas.microsoft.com/office/drawing/2014/main" id="{01602764-DCC0-481F-A5A7-9B929F8DB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81200"/>
            <a:ext cx="6096000" cy="324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vi-VN" sz="2800" dirty="0"/>
              <a:t>Cấu trúc tập lệnh RISC-V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vi-VN" sz="2800" dirty="0"/>
              <a:t>Cấu trúc Pipeline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vi-VN" sz="2800" dirty="0"/>
              <a:t>Cấu trúc Branch Prediction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vi-VN" sz="2800" dirty="0"/>
              <a:t>Cấu trúc Partial Dual-Issue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vi-VN" sz="2800" dirty="0"/>
              <a:t>Thiết kế CPU</a:t>
            </a:r>
            <a:endParaRPr 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4A50C8C9-4103-46EB-AF88-01A30EB2F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3.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Đặc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tả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hệ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thống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01D2C5E-3954-4430-9996-084FBDC1D8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F5AD9F-ECB9-4446-8D43-4B788ADCB1A6}" type="slidenum">
              <a:rPr lang="en-US" altLang="en-US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83FBF7-EC68-4BC6-BCCA-1748C40BDF19}"/>
              </a:ext>
            </a:extLst>
          </p:cNvPr>
          <p:cNvSpPr/>
          <p:nvPr/>
        </p:nvSpPr>
        <p:spPr>
          <a:xfrm>
            <a:off x="-76200" y="-76200"/>
            <a:ext cx="9372600" cy="70866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730D307-25FF-49FC-9BCB-6A611312CF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-76200" y="-47625"/>
            <a:ext cx="9372600" cy="7029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4A50C8C9-4103-46EB-AF88-01A30EB2F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3.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Đặc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tả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hệ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thống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F01D2C5E-3954-4430-9996-084FBDC1D8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F5AD9F-ECB9-4446-8D43-4B788ADCB1A6}" type="slidenum">
              <a:rPr lang="en-US" altLang="en-US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F06308-77E5-4E14-8FDF-CEB6BCD3F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15822"/>
              </p:ext>
            </p:extLst>
          </p:nvPr>
        </p:nvGraphicFramePr>
        <p:xfrm>
          <a:off x="390524" y="1143000"/>
          <a:ext cx="8362951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81351">
                  <a:extLst>
                    <a:ext uri="{9D8B030D-6E8A-4147-A177-3AD203B41FA5}">
                      <a16:colId xmlns:a16="http://schemas.microsoft.com/office/drawing/2014/main" val="96172948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59903397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cap="all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AQUA</a:t>
                      </a:r>
                      <a:r>
                        <a:rPr lang="vi-VN" sz="2000" b="0" cap="non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</a:t>
                      </a:r>
                      <a:endParaRPr lang="en-US" sz="2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90341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32-bit/64bit address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32-bit address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387593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ISA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RISC-V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74244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ISA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RV32I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165085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Extensions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458368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vi-V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stages – Partial Dual-Issue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60783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</a:t>
                      </a:r>
                      <a:r>
                        <a:rPr lang="vi-VN" sz="2000" cap="all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SCheduling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r>
                        <a:rPr lang="vi-V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order static issue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343658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 Prediction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BTB – 1K entries, 8-bit history</a:t>
                      </a:r>
                      <a:r>
                        <a:rPr lang="vi-V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G-Share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943014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cap="all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SystemVerilog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81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5519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A1193D-F3E3-4EFE-838C-F35F60F140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87181" y="2168530"/>
            <a:ext cx="5369638" cy="12604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C42718-6400-49B7-BD60-973C5179DC4C}"/>
              </a:ext>
            </a:extLst>
          </p:cNvPr>
          <p:cNvSpPr txBox="1"/>
          <p:nvPr/>
        </p:nvSpPr>
        <p:spPr>
          <a:xfrm>
            <a:off x="3171616" y="4033752"/>
            <a:ext cx="28007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Structure Hazard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Data Hazard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/>
              <a:t>Control Hazard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289145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A1193D-F3E3-4EFE-838C-F35F60F140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630684"/>
            <a:ext cx="5369638" cy="12604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B3231F-18FC-42BA-B0A4-3C7A5849AF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5369638" cy="2257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7A7799E-1F16-4AE5-9CC9-A7348836CF33}"/>
                  </a:ext>
                </a:extLst>
              </p:cNvPr>
              <p:cNvSpPr/>
              <p:nvPr/>
            </p:nvSpPr>
            <p:spPr>
              <a:xfrm>
                <a:off x="7010400" y="1969730"/>
                <a:ext cx="13453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𝐼𝑃𝐶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7A7799E-1F16-4AE5-9CC9-A7348836CF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1969730"/>
                <a:ext cx="134536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F097C8-07D6-4DBE-B072-402798EC8C40}"/>
                  </a:ext>
                </a:extLst>
              </p:cNvPr>
              <p:cNvSpPr/>
              <p:nvPr/>
            </p:nvSpPr>
            <p:spPr>
              <a:xfrm>
                <a:off x="5826838" y="4050095"/>
                <a:ext cx="3307829" cy="9148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𝐼𝑃𝐶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𝑖𝑛𝑠𝑡𝑟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</m:sub>
                          </m:sSub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𝑖𝑛𝑠𝑡𝑟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𝑖𝑛𝑠𝑡𝑟</m:t>
                              </m:r>
                            </m:sub>
                          </m:sSub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F097C8-07D6-4DBE-B072-402798EC8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838" y="4050095"/>
                <a:ext cx="3307829" cy="9148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4292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A9BC3-C5AC-4D64-8B82-8DF872C2C5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3663" y="1269523"/>
            <a:ext cx="8696674" cy="43189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B8E96E-F2AD-4279-ABC3-39914BE3666D}"/>
              </a:ext>
            </a:extLst>
          </p:cNvPr>
          <p:cNvSpPr txBox="1"/>
          <p:nvPr/>
        </p:nvSpPr>
        <p:spPr>
          <a:xfrm>
            <a:off x="4004001" y="5588476"/>
            <a:ext cx="49087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 dirty="0"/>
              <a:t>2 câu lệnh được xử lý trong 1 chu kỳ máy</a:t>
            </a:r>
          </a:p>
          <a:p>
            <a:r>
              <a:rPr lang="vi-VN" sz="2000" dirty="0"/>
              <a:t>2 câu lệnh phải đáp ứng đủ yêu cầu</a:t>
            </a:r>
            <a:endParaRPr 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BF119B-5A9A-4DD3-9C26-504BD3BC9F44}"/>
              </a:ext>
            </a:extLst>
          </p:cNvPr>
          <p:cNvSpPr txBox="1"/>
          <p:nvPr/>
        </p:nvSpPr>
        <p:spPr>
          <a:xfrm>
            <a:off x="446510" y="4429670"/>
            <a:ext cx="82509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vi-VN" sz="2400" dirty="0"/>
              <a:t>Hai câu lệnh không cùng là Control Transfer Instruction</a:t>
            </a:r>
          </a:p>
          <a:p>
            <a:pPr marL="342900" indent="-342900">
              <a:buAutoNum type="arabicPeriod"/>
            </a:pPr>
            <a:r>
              <a:rPr lang="vi-VN" sz="2400" dirty="0"/>
              <a:t>Hai câu lệnh không cùng là Load/Store Instruction</a:t>
            </a:r>
          </a:p>
          <a:p>
            <a:pPr marL="342900" indent="-342900">
              <a:buAutoNum type="arabicPeriod"/>
            </a:pPr>
            <a:r>
              <a:rPr lang="vi-VN" sz="2400" dirty="0"/>
              <a:t>Câu lệnh sau không sử dụng kết quả của câu lệnh trước</a:t>
            </a: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C24BA65-D3E1-4B75-9B99-5C27B7D53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241138"/>
              </p:ext>
            </p:extLst>
          </p:nvPr>
        </p:nvGraphicFramePr>
        <p:xfrm>
          <a:off x="2242819" y="2265204"/>
          <a:ext cx="4658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42093456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42320757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608335825"/>
                    </a:ext>
                  </a:extLst>
                </a:gridCol>
              </a:tblGrid>
              <a:tr h="20423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U_PIPE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V_PIPE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600637"/>
                  </a:ext>
                </a:extLst>
              </a:tr>
              <a:tr h="204230">
                <a:tc>
                  <a:txBody>
                    <a:bodyPr/>
                    <a:lstStyle/>
                    <a:p>
                      <a:r>
                        <a:rPr lang="vi-VN" dirty="0"/>
                        <a:t>ALU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632539"/>
                  </a:ext>
                </a:extLst>
              </a:tr>
              <a:tr h="352508">
                <a:tc>
                  <a:txBody>
                    <a:bodyPr/>
                    <a:lstStyle/>
                    <a:p>
                      <a:r>
                        <a:rPr lang="vi-VN" dirty="0"/>
                        <a:t>Control Transfer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767849"/>
                  </a:ext>
                </a:extLst>
              </a:tr>
              <a:tr h="204230">
                <a:tc>
                  <a:txBody>
                    <a:bodyPr/>
                    <a:lstStyle/>
                    <a:p>
                      <a:r>
                        <a:rPr lang="vi-VN" dirty="0"/>
                        <a:t>Load/Store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82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2745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28316E-EF5A-490B-A0DD-C2F6267AC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07797"/>
              </p:ext>
            </p:extLst>
          </p:nvPr>
        </p:nvGraphicFramePr>
        <p:xfrm>
          <a:off x="533400" y="2753360"/>
          <a:ext cx="3228410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6810">
                  <a:extLst>
                    <a:ext uri="{9D8B030D-6E8A-4147-A177-3AD203B41FA5}">
                      <a16:colId xmlns:a16="http://schemas.microsoft.com/office/drawing/2014/main" val="109103654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8683987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instruction type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latency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7741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ALU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72539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Load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70554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hoặc 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563465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E5FD00D-3DC6-4ECF-AD36-21C9492E6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555003"/>
              </p:ext>
            </p:extLst>
          </p:nvPr>
        </p:nvGraphicFramePr>
        <p:xfrm>
          <a:off x="4135956" y="2405380"/>
          <a:ext cx="4474644" cy="2524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0896">
                  <a:extLst>
                    <a:ext uri="{9D8B030D-6E8A-4147-A177-3AD203B41FA5}">
                      <a16:colId xmlns:a16="http://schemas.microsoft.com/office/drawing/2014/main" val="1091036546"/>
                    </a:ext>
                  </a:extLst>
                </a:gridCol>
                <a:gridCol w="680937">
                  <a:extLst>
                    <a:ext uri="{9D8B030D-6E8A-4147-A177-3AD203B41FA5}">
                      <a16:colId xmlns:a16="http://schemas.microsoft.com/office/drawing/2014/main" val="1186839870"/>
                    </a:ext>
                  </a:extLst>
                </a:gridCol>
                <a:gridCol w="680937">
                  <a:extLst>
                    <a:ext uri="{9D8B030D-6E8A-4147-A177-3AD203B41FA5}">
                      <a16:colId xmlns:a16="http://schemas.microsoft.com/office/drawing/2014/main" val="2504459818"/>
                    </a:ext>
                  </a:extLst>
                </a:gridCol>
                <a:gridCol w="680937">
                  <a:extLst>
                    <a:ext uri="{9D8B030D-6E8A-4147-A177-3AD203B41FA5}">
                      <a16:colId xmlns:a16="http://schemas.microsoft.com/office/drawing/2014/main" val="3356076121"/>
                    </a:ext>
                  </a:extLst>
                </a:gridCol>
                <a:gridCol w="680937">
                  <a:extLst>
                    <a:ext uri="{9D8B030D-6E8A-4147-A177-3AD203B41FA5}">
                      <a16:colId xmlns:a16="http://schemas.microsoft.com/office/drawing/2014/main" val="1026445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774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Fetch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7253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Decode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7055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5634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Execute 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47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Execute 2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9586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Write Back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7617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76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en-US">
              <a:solidFill>
                <a:srgbClr val="89898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E4EFCD-F12C-4E80-84DD-11957CB183FF}"/>
                  </a:ext>
                </a:extLst>
              </p:cNvPr>
              <p:cNvSpPr/>
              <p:nvPr/>
            </p:nvSpPr>
            <p:spPr>
              <a:xfrm>
                <a:off x="457200" y="1957534"/>
                <a:ext cx="8447881" cy="35414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vi-VN" sz="2000" dirty="0">
                    <a:effectLst/>
                    <a:latin typeface="+mn-lt"/>
                    <a:ea typeface="Calibri" panose="020F0502020204030204" pitchFamily="34" charset="0"/>
                  </a:rPr>
                  <a:t>Xác suất xảy ra câu lệnh nhảy: </a:t>
                </a:r>
                <a14:m>
                  <m:oMath xmlns:m="http://schemas.openxmlformats.org/officeDocument/2006/math"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%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𝑏𝑟𝑎𝑛𝑐h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=20%</m:t>
                    </m:r>
                  </m:oMath>
                </a14:m>
                <a:endParaRPr lang="en-US" sz="2000" dirty="0">
                  <a:effectLst/>
                  <a:latin typeface="+mn-lt"/>
                  <a:ea typeface="Calibri" panose="020F050202020403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:r>
                  <a:rPr lang="vi-VN" sz="2000" dirty="0">
                    <a:effectLst/>
                    <a:latin typeface="+mn-lt"/>
                    <a:ea typeface="Malgun Gothic" panose="020B0503020000020004" pitchFamily="34" charset="-127"/>
                  </a:rPr>
                  <a:t>Xác suất xảy ra câu lệnh load, store: </a:t>
                </a:r>
                <a14:m>
                  <m:oMath xmlns:m="http://schemas.openxmlformats.org/officeDocument/2006/math"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 %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𝑚𝑒𝑚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=40%+10%=40%</m:t>
                    </m:r>
                  </m:oMath>
                </a14:m>
                <a:endParaRPr lang="en-US" sz="2000" dirty="0">
                  <a:effectLst/>
                  <a:latin typeface="+mn-lt"/>
                  <a:ea typeface="Calibri" panose="020F0502020204030204" pitchFamily="34" charset="0"/>
                </a:endParaRPr>
              </a:p>
              <a:p>
                <a:pPr marL="0" marR="0" indent="457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𝑃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=%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𝑏𝑟𝑎𝑛𝑐h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×%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𝑏𝑟𝑎𝑛𝑐h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+%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𝑚𝑒𝑚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×%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𝑚𝑒𝑚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=0.2</m:t>
                      </m:r>
                    </m:oMath>
                  </m:oMathPara>
                </a14:m>
                <a:endParaRPr lang="en-US" sz="2000" dirty="0">
                  <a:effectLst/>
                  <a:latin typeface="+mn-lt"/>
                  <a:ea typeface="Calibri" panose="020F0502020204030204" pitchFamily="34" charset="0"/>
                </a:endParaRPr>
              </a:p>
              <a:p>
                <a:pPr indent="457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𝐼𝑃</m:t>
                      </m:r>
                      <m:sSub>
                        <m:sSubPr>
                          <m:ctrlPr>
                            <a:rPr lang="vi-VN" sz="20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vi-VN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vi-VN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𝑖𝑑𝑒𝑎𝑙</m:t>
                          </m:r>
                        </m:sub>
                      </m:sSub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𝑖𝑛𝑠𝑡𝑟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𝑐𝑦𝑐𝑙𝑒</m:t>
                              </m:r>
                            </m:sub>
                          </m:sSub>
                        </m:den>
                      </m:f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vi-VN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vi-VN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1−</m:t>
                              </m:r>
                              <m:r>
                                <a:rPr lang="vi-VN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vi-VN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+1×</m:t>
                          </m:r>
                          <m:r>
                            <a:rPr lang="vi-VN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𝑃</m:t>
                          </m:r>
                        </m:den>
                      </m:f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vi-VN" sz="2000" i="1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1.67</m:t>
                      </m:r>
                    </m:oMath>
                  </m:oMathPara>
                </a14:m>
                <a:endParaRPr lang="vi-VN" sz="2000" dirty="0">
                  <a:effectLst/>
                  <a:latin typeface="+mn-lt"/>
                  <a:ea typeface="Malgun Gothic" panose="020B0503020000020004" pitchFamily="34" charset="-127"/>
                </a:endParaRPr>
              </a:p>
              <a:p>
                <a:pPr marL="0" marR="0" indent="457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</a:pPr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E4EFCD-F12C-4E80-84DD-11957CB18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57534"/>
                <a:ext cx="8447881" cy="3541419"/>
              </a:xfrm>
              <a:prstGeom prst="rect">
                <a:avLst/>
              </a:prstGeo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4B89F69-778D-46DE-A3A3-630EAD6485BF}"/>
              </a:ext>
            </a:extLst>
          </p:cNvPr>
          <p:cNvSpPr/>
          <p:nvPr/>
        </p:nvSpPr>
        <p:spPr>
          <a:xfrm>
            <a:off x="5480103" y="5801221"/>
            <a:ext cx="3493264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 algn="just">
              <a:lnSpc>
                <a:spcPct val="150000"/>
              </a:lnSpc>
              <a:spcBef>
                <a:spcPts val="600"/>
              </a:spcBef>
              <a:spcAft>
                <a:spcPts val="1000"/>
              </a:spcAft>
            </a:pPr>
            <a:r>
              <a:rPr lang="vi-VN" sz="1800" dirty="0">
                <a:effectLst/>
                <a:ea typeface="Malgun Gothic" panose="020B0503020000020004" pitchFamily="34" charset="-127"/>
                <a:cs typeface="Arial" panose="020B0604020202020204" pitchFamily="34" charset="0"/>
              </a:rPr>
              <a:t>*(sử dụng SPEC CPU2006)</a:t>
            </a:r>
            <a:endParaRPr lang="en-US" sz="1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26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A9BC3-C5AC-4D64-8B82-8DF872C2C5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3663" y="1269523"/>
            <a:ext cx="8696674" cy="4318953"/>
          </a:xfrm>
          <a:prstGeom prst="rect">
            <a:avLst/>
          </a:prstGeom>
        </p:spPr>
      </p:pic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2DF81BE7-772D-4FFB-A08E-60069BBC338C}"/>
              </a:ext>
            </a:extLst>
          </p:cNvPr>
          <p:cNvSpPr/>
          <p:nvPr/>
        </p:nvSpPr>
        <p:spPr>
          <a:xfrm>
            <a:off x="533400" y="2743200"/>
            <a:ext cx="6858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A5A3B33B-CC27-4A41-9D42-29219D862875}"/>
              </a:ext>
            </a:extLst>
          </p:cNvPr>
          <p:cNvSpPr/>
          <p:nvPr/>
        </p:nvSpPr>
        <p:spPr>
          <a:xfrm>
            <a:off x="2895600" y="2743200"/>
            <a:ext cx="6858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hlinkClick r:id="rId5" action="ppaction://hlinksldjump"/>
            <a:extLst>
              <a:ext uri="{FF2B5EF4-FFF2-40B4-BE49-F238E27FC236}">
                <a16:creationId xmlns:a16="http://schemas.microsoft.com/office/drawing/2014/main" id="{968FEB66-6D6C-4698-B983-C3ECD1AD9B61}"/>
              </a:ext>
            </a:extLst>
          </p:cNvPr>
          <p:cNvSpPr/>
          <p:nvPr/>
        </p:nvSpPr>
        <p:spPr>
          <a:xfrm>
            <a:off x="4038600" y="2743200"/>
            <a:ext cx="6858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hlinkClick r:id="rId6" action="ppaction://hlinksldjump"/>
            <a:extLst>
              <a:ext uri="{FF2B5EF4-FFF2-40B4-BE49-F238E27FC236}">
                <a16:creationId xmlns:a16="http://schemas.microsoft.com/office/drawing/2014/main" id="{C27C8BB6-173A-43F3-A30E-216A93079EE1}"/>
              </a:ext>
            </a:extLst>
          </p:cNvPr>
          <p:cNvSpPr/>
          <p:nvPr/>
        </p:nvSpPr>
        <p:spPr>
          <a:xfrm>
            <a:off x="5565068" y="2057400"/>
            <a:ext cx="3121732" cy="213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hlinkClick r:id="rId7" action="ppaction://hlinksldjump"/>
            <a:extLst>
              <a:ext uri="{FF2B5EF4-FFF2-40B4-BE49-F238E27FC236}">
                <a16:creationId xmlns:a16="http://schemas.microsoft.com/office/drawing/2014/main" id="{A94373B1-87C1-4766-AE74-5D67FBBF27E7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6978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Fetch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7139CE-0D4E-47EA-B5D7-C74304C211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6800" y="1063253"/>
            <a:ext cx="7467600" cy="5329982"/>
          </a:xfrm>
          <a:prstGeom prst="rect">
            <a:avLst/>
          </a:prstGeom>
        </p:spPr>
      </p:pic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665350C3-AAF4-4BF5-B8DA-0C88A6B91F8C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2AD6C86A-1F80-4F60-B59A-B28EE82DB869}"/>
              </a:ext>
            </a:extLst>
          </p:cNvPr>
          <p:cNvSpPr/>
          <p:nvPr/>
        </p:nvSpPr>
        <p:spPr>
          <a:xfrm>
            <a:off x="2415540" y="3505200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97B17FD4-48B6-4E0D-8E6C-221E364444D9}"/>
              </a:ext>
            </a:extLst>
          </p:cNvPr>
          <p:cNvSpPr/>
          <p:nvPr/>
        </p:nvSpPr>
        <p:spPr>
          <a:xfrm>
            <a:off x="4800600" y="2438400"/>
            <a:ext cx="13716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hlinkClick r:id="rId6" action="ppaction://hlinksldjump"/>
            <a:extLst>
              <a:ext uri="{FF2B5EF4-FFF2-40B4-BE49-F238E27FC236}">
                <a16:creationId xmlns:a16="http://schemas.microsoft.com/office/drawing/2014/main" id="{67EF8ED6-87C3-4BE8-8439-3A1364089591}"/>
              </a:ext>
            </a:extLst>
          </p:cNvPr>
          <p:cNvSpPr/>
          <p:nvPr/>
        </p:nvSpPr>
        <p:spPr>
          <a:xfrm>
            <a:off x="6324600" y="2253812"/>
            <a:ext cx="533400" cy="1022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2796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Branch Predictor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1D901-5048-4945-8A39-4B51C148412E}"/>
              </a:ext>
            </a:extLst>
          </p:cNvPr>
          <p:cNvPicPr/>
          <p:nvPr/>
        </p:nvPicPr>
        <p:blipFill rotWithShape="1">
          <a:blip r:embed="rId2"/>
          <a:srcRect l="6498" t="4110" r="4288"/>
          <a:stretch/>
        </p:blipFill>
        <p:spPr bwMode="auto">
          <a:xfrm>
            <a:off x="1087056" y="1154589"/>
            <a:ext cx="7055929" cy="51777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hlinkClick r:id="rId3" action="ppaction://hlinksldjump"/>
            <a:extLst>
              <a:ext uri="{FF2B5EF4-FFF2-40B4-BE49-F238E27FC236}">
                <a16:creationId xmlns:a16="http://schemas.microsoft.com/office/drawing/2014/main" id="{A613FA5A-0917-4F75-A0A1-ED32AF8B01A6}"/>
              </a:ext>
            </a:extLst>
          </p:cNvPr>
          <p:cNvSpPr/>
          <p:nvPr/>
        </p:nvSpPr>
        <p:spPr>
          <a:xfrm>
            <a:off x="457200" y="5646579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978C78BB-6BC9-4F95-A445-B88F0758B279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3293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sz="3600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Branch Predictor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8FA4C-6A98-4A83-95FE-97443AA85A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670" y="1575756"/>
            <a:ext cx="4257040" cy="3734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0D3E6B-CC00-423E-AEE3-C5B3798E38F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78224" y="1798320"/>
            <a:ext cx="4965776" cy="3295650"/>
          </a:xfrm>
          <a:prstGeom prst="rect">
            <a:avLst/>
          </a:prstGeom>
        </p:spPr>
      </p:pic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C4B06A8A-30D2-4055-9BEF-9BBE41027456}"/>
              </a:ext>
            </a:extLst>
          </p:cNvPr>
          <p:cNvSpPr/>
          <p:nvPr/>
        </p:nvSpPr>
        <p:spPr>
          <a:xfrm>
            <a:off x="457200" y="5646579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hlinkClick r:id="rId5" action="ppaction://hlinksldjump"/>
            <a:extLst>
              <a:ext uri="{FF2B5EF4-FFF2-40B4-BE49-F238E27FC236}">
                <a16:creationId xmlns:a16="http://schemas.microsoft.com/office/drawing/2014/main" id="{BDE5B440-B786-42AA-B68D-05E8317DD0E4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8662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Điều chế tín hiệu idx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4770C-151E-4A2C-B276-91CEB16AFB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78523" y="1676400"/>
            <a:ext cx="7276259" cy="4419600"/>
          </a:xfrm>
          <a:prstGeom prst="rect">
            <a:avLst/>
          </a:prstGeom>
        </p:spPr>
      </p:pic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EDC11297-EC54-499B-9894-263F6AB1215C}"/>
              </a:ext>
            </a:extLst>
          </p:cNvPr>
          <p:cNvSpPr/>
          <p:nvPr/>
        </p:nvSpPr>
        <p:spPr>
          <a:xfrm>
            <a:off x="457200" y="76200"/>
            <a:ext cx="6096000" cy="6256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8DA987F-CB37-4CDA-B5DB-9C01E61CE07F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2152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Align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1EE5E6-86A4-4F68-9CA6-18A2A19EFA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39453" y="1981200"/>
            <a:ext cx="7137747" cy="3284220"/>
          </a:xfrm>
          <a:prstGeom prst="rect">
            <a:avLst/>
          </a:prstGeom>
        </p:spPr>
      </p:pic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12A92070-B789-464F-B00A-FD840C983A54}"/>
              </a:ext>
            </a:extLst>
          </p:cNvPr>
          <p:cNvSpPr/>
          <p:nvPr/>
        </p:nvSpPr>
        <p:spPr>
          <a:xfrm>
            <a:off x="457200" y="288925"/>
            <a:ext cx="5867400" cy="6043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B2AA8C07-C8FB-4959-BA78-FC43877234C1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5649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Queue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BDEF12-05B3-4921-B3FB-B0C30893753A}"/>
              </a:ext>
            </a:extLst>
          </p:cNvPr>
          <p:cNvSpPr/>
          <p:nvPr/>
        </p:nvSpPr>
        <p:spPr>
          <a:xfrm>
            <a:off x="11430" y="1371600"/>
            <a:ext cx="912114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06FAF-4258-40EB-BD2E-4B848530A0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00425" y="1"/>
            <a:ext cx="573214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96D8CE-9DA6-4CD8-BD1B-2412F89CF292}"/>
              </a:ext>
            </a:extLst>
          </p:cNvPr>
          <p:cNvPicPr/>
          <p:nvPr/>
        </p:nvPicPr>
        <p:blipFill rotWithShape="1">
          <a:blip r:embed="rId3"/>
          <a:srcRect t="6128"/>
          <a:stretch/>
        </p:blipFill>
        <p:spPr bwMode="auto">
          <a:xfrm>
            <a:off x="0" y="1905000"/>
            <a:ext cx="3836441" cy="31356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D0E680E3-ABE0-42D2-98BF-AEBD4C7C86DC}"/>
              </a:ext>
            </a:extLst>
          </p:cNvPr>
          <p:cNvSpPr/>
          <p:nvPr/>
        </p:nvSpPr>
        <p:spPr>
          <a:xfrm>
            <a:off x="457200" y="685800"/>
            <a:ext cx="6019800" cy="5646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436FC780-06A0-4586-BC09-B48923CE484B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6287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sz="3600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Decode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8D760-591E-4953-B22E-98422F374C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1788" y="1655445"/>
            <a:ext cx="8540423" cy="4128770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224C6BD-F5CE-440C-9CC9-DC0B29F91845}"/>
              </a:ext>
            </a:extLst>
          </p:cNvPr>
          <p:cNvSpPr/>
          <p:nvPr/>
        </p:nvSpPr>
        <p:spPr>
          <a:xfrm>
            <a:off x="533400" y="1295400"/>
            <a:ext cx="8001000" cy="49918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2066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Issue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7D51E-C2E9-4CBD-84FF-A8311EDAFA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295400"/>
            <a:ext cx="7971472" cy="4547810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CD56950F-6A3A-49D9-B71E-4730A79C473F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3165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Scoreboard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8A2B12-1764-4431-8BC6-ED9CB84B42C4}"/>
              </a:ext>
            </a:extLst>
          </p:cNvPr>
          <p:cNvSpPr/>
          <p:nvPr/>
        </p:nvSpPr>
        <p:spPr>
          <a:xfrm>
            <a:off x="0" y="1524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A83C5-F378-497E-AF67-B1ADCB5E7C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9796" y="0"/>
            <a:ext cx="8344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096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Scoreboard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E2DE36DF-8AD9-4348-A527-941D1EE54D4A}"/>
              </a:ext>
            </a:extLst>
          </p:cNvPr>
          <p:cNvSpPr/>
          <p:nvPr/>
        </p:nvSpPr>
        <p:spPr>
          <a:xfrm>
            <a:off x="6172200" y="5546121"/>
            <a:ext cx="2849930" cy="9429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AB4757-B547-4326-BD12-06936FCF5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629370"/>
              </p:ext>
            </p:extLst>
          </p:nvPr>
        </p:nvGraphicFramePr>
        <p:xfrm>
          <a:off x="1706979" y="1464278"/>
          <a:ext cx="5730041" cy="392944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43560">
                  <a:extLst>
                    <a:ext uri="{9D8B030D-6E8A-4147-A177-3AD203B41FA5}">
                      <a16:colId xmlns:a16="http://schemas.microsoft.com/office/drawing/2014/main" val="20710309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091036546"/>
                    </a:ext>
                  </a:extLst>
                </a:gridCol>
                <a:gridCol w="1342461">
                  <a:extLst>
                    <a:ext uri="{9D8B030D-6E8A-4147-A177-3AD203B41FA5}">
                      <a16:colId xmlns:a16="http://schemas.microsoft.com/office/drawing/2014/main" val="1186839870"/>
                    </a:ext>
                  </a:extLst>
                </a:gridCol>
                <a:gridCol w="951140">
                  <a:extLst>
                    <a:ext uri="{9D8B030D-6E8A-4147-A177-3AD203B41FA5}">
                      <a16:colId xmlns:a16="http://schemas.microsoft.com/office/drawing/2014/main" val="2483766819"/>
                    </a:ext>
                  </a:extLst>
                </a:gridCol>
                <a:gridCol w="951140">
                  <a:extLst>
                    <a:ext uri="{9D8B030D-6E8A-4147-A177-3AD203B41FA5}">
                      <a16:colId xmlns:a16="http://schemas.microsoft.com/office/drawing/2014/main" val="1871174316"/>
                    </a:ext>
                  </a:extLst>
                </a:gridCol>
                <a:gridCol w="951140">
                  <a:extLst>
                    <a:ext uri="{9D8B030D-6E8A-4147-A177-3AD203B41FA5}">
                      <a16:colId xmlns:a16="http://schemas.microsoft.com/office/drawing/2014/main" val="138219687"/>
                    </a:ext>
                  </a:extLst>
                </a:gridCol>
              </a:tblGrid>
              <a:tr h="91440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idx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Funct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</a:rPr>
                        <a:t>Pending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Data available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774139"/>
                  </a:ext>
                </a:extLst>
              </a:tr>
              <a:tr h="91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X1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X2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539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N_PIPE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0554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U_PIPE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6346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V_PIPE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045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6799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V_PIPE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7363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U_PIPE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1025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U_PIPE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897984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514E78-F09B-4F06-8788-73A83D5F09E6}"/>
              </a:ext>
            </a:extLst>
          </p:cNvPr>
          <p:cNvCxnSpPr>
            <a:cxnSpLocks/>
          </p:cNvCxnSpPr>
          <p:nvPr/>
        </p:nvCxnSpPr>
        <p:spPr>
          <a:xfrm flipH="1">
            <a:off x="5257800" y="3320447"/>
            <a:ext cx="2613610" cy="0"/>
          </a:xfrm>
          <a:prstGeom prst="straightConnector1">
            <a:avLst/>
          </a:prstGeom>
          <a:ln w="38100">
            <a:solidFill>
              <a:srgbClr val="170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EB9CCD0-0705-4F54-B4CE-21F97C53A115}"/>
              </a:ext>
            </a:extLst>
          </p:cNvPr>
          <p:cNvSpPr txBox="1"/>
          <p:nvPr/>
        </p:nvSpPr>
        <p:spPr>
          <a:xfrm>
            <a:off x="7871410" y="3135781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Freeze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949967-BAB3-4222-A174-DD99DC7EF7AE}"/>
              </a:ext>
            </a:extLst>
          </p:cNvPr>
          <p:cNvCxnSpPr>
            <a:cxnSpLocks/>
          </p:cNvCxnSpPr>
          <p:nvPr/>
        </p:nvCxnSpPr>
        <p:spPr>
          <a:xfrm flipH="1">
            <a:off x="5410201" y="4267200"/>
            <a:ext cx="2461210" cy="0"/>
          </a:xfrm>
          <a:prstGeom prst="straightConnector1">
            <a:avLst/>
          </a:prstGeom>
          <a:ln w="38100">
            <a:solidFill>
              <a:srgbClr val="170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F648F4-18E3-4250-813B-33684B2D2E28}"/>
              </a:ext>
            </a:extLst>
          </p:cNvPr>
          <p:cNvCxnSpPr>
            <a:cxnSpLocks/>
          </p:cNvCxnSpPr>
          <p:nvPr/>
        </p:nvCxnSpPr>
        <p:spPr>
          <a:xfrm flipH="1">
            <a:off x="5410201" y="4724400"/>
            <a:ext cx="2461209" cy="0"/>
          </a:xfrm>
          <a:prstGeom prst="straightConnector1">
            <a:avLst/>
          </a:prstGeom>
          <a:ln w="38100">
            <a:solidFill>
              <a:srgbClr val="170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63F01A-A661-44D7-9147-016A1341F216}"/>
              </a:ext>
            </a:extLst>
          </p:cNvPr>
          <p:cNvCxnSpPr>
            <a:cxnSpLocks/>
          </p:cNvCxnSpPr>
          <p:nvPr/>
        </p:nvCxnSpPr>
        <p:spPr>
          <a:xfrm flipH="1">
            <a:off x="4114800" y="5181600"/>
            <a:ext cx="3756610" cy="0"/>
          </a:xfrm>
          <a:prstGeom prst="straightConnector1">
            <a:avLst/>
          </a:prstGeom>
          <a:ln w="38100">
            <a:solidFill>
              <a:srgbClr val="170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C095E7-5A39-44EC-ADCB-8CAB2F1D1D8F}"/>
              </a:ext>
            </a:extLst>
          </p:cNvPr>
          <p:cNvCxnSpPr>
            <a:cxnSpLocks/>
          </p:cNvCxnSpPr>
          <p:nvPr/>
        </p:nvCxnSpPr>
        <p:spPr>
          <a:xfrm flipH="1">
            <a:off x="5257801" y="2895600"/>
            <a:ext cx="2613609" cy="0"/>
          </a:xfrm>
          <a:prstGeom prst="straightConnector1">
            <a:avLst/>
          </a:prstGeom>
          <a:ln w="38100">
            <a:solidFill>
              <a:srgbClr val="1702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B9F348-4EC8-4A75-A906-1628E1BD31B4}"/>
              </a:ext>
            </a:extLst>
          </p:cNvPr>
          <p:cNvSpPr txBox="1"/>
          <p:nvPr/>
        </p:nvSpPr>
        <p:spPr>
          <a:xfrm>
            <a:off x="7805172" y="4853451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No</a:t>
            </a:r>
          </a:p>
          <a:p>
            <a:r>
              <a:rPr lang="vi-VN" dirty="0"/>
              <a:t>Forwarding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9A1599-28C2-4B48-9112-D9E975BB21E1}"/>
              </a:ext>
            </a:extLst>
          </p:cNvPr>
          <p:cNvSpPr txBox="1"/>
          <p:nvPr/>
        </p:nvSpPr>
        <p:spPr>
          <a:xfrm>
            <a:off x="7871410" y="412646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Freeze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24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6" grpId="0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U-Pipe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29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2A22A-9A31-4C9A-B521-0004139BA4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5792" y="1219200"/>
            <a:ext cx="8272416" cy="4804728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600945F5-1FE6-4EC7-B23D-54A8D10411A4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8597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U-Pipe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30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2A22A-9A31-4C9A-B521-0004139BA4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5792" y="1219200"/>
            <a:ext cx="5050608" cy="2933460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600945F5-1FE6-4EC7-B23D-54A8D10411A4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794E9E2F-869E-4B91-A838-0FBAAF634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68503"/>
              </p:ext>
            </p:extLst>
          </p:nvPr>
        </p:nvGraphicFramePr>
        <p:xfrm>
          <a:off x="3276600" y="4527073"/>
          <a:ext cx="550925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99">
                  <a:extLst>
                    <a:ext uri="{9D8B030D-6E8A-4147-A177-3AD203B41FA5}">
                      <a16:colId xmlns:a16="http://schemas.microsoft.com/office/drawing/2014/main" val="42093456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42320757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608335825"/>
                    </a:ext>
                  </a:extLst>
                </a:gridCol>
              </a:tblGrid>
              <a:tr h="2042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ALU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BU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600637"/>
                  </a:ext>
                </a:extLst>
              </a:tr>
              <a:tr h="204230">
                <a:tc>
                  <a:txBody>
                    <a:bodyPr/>
                    <a:lstStyle/>
                    <a:p>
                      <a:r>
                        <a:rPr lang="vi-VN" dirty="0"/>
                        <a:t>ALU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Result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632539"/>
                  </a:ext>
                </a:extLst>
              </a:tr>
              <a:tr h="352508">
                <a:tc>
                  <a:txBody>
                    <a:bodyPr/>
                    <a:lstStyle/>
                    <a:p>
                      <a:r>
                        <a:rPr lang="vi-VN" dirty="0"/>
                        <a:t>Control Transfer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dirty="0"/>
                        <a:t>Compare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Result + Actual Target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767849"/>
                  </a:ext>
                </a:extLst>
              </a:tr>
              <a:tr h="204230">
                <a:tc>
                  <a:txBody>
                    <a:bodyPr/>
                    <a:lstStyle/>
                    <a:p>
                      <a:r>
                        <a:rPr lang="vi-VN" dirty="0"/>
                        <a:t>Load/Store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82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576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3.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phần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cứng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31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8883B4-5D79-4D5A-930D-8860A527633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0BEC48-383E-416B-8DEF-4336983A29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3562" y="0"/>
            <a:ext cx="7156875" cy="6838950"/>
          </a:xfrm>
          <a:prstGeom prst="rect">
            <a:avLst/>
          </a:prstGeom>
        </p:spPr>
      </p:pic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8C5E6669-E2EC-4047-B478-7EBE3731898F}"/>
              </a:ext>
            </a:extLst>
          </p:cNvPr>
          <p:cNvSpPr/>
          <p:nvPr/>
        </p:nvSpPr>
        <p:spPr>
          <a:xfrm>
            <a:off x="6172200" y="5601414"/>
            <a:ext cx="2362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8122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V-Pipe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32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29CBE-EFF8-4991-977F-1B7EECECA6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67264" y="1073150"/>
            <a:ext cx="7209472" cy="500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1651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4E9E004-AD88-4CDE-A571-48B9C1746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82502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V-Pipe</a:t>
            </a:r>
            <a:endParaRPr lang="en-US" sz="3600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B8013CE8-707A-41F9-9BEB-F181E5A445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4EAED4-F819-4F5F-8966-E2B98FB45D65}" type="slidenum">
              <a:rPr lang="en-US" altLang="en-US">
                <a:solidFill>
                  <a:srgbClr val="898989"/>
                </a:solidFill>
              </a:rPr>
              <a:pPr eaLnBrk="1" hangingPunct="1"/>
              <a:t>33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29CBE-EFF8-4991-977F-1B7EECECA6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67263" y="1073150"/>
            <a:ext cx="4643765" cy="3225480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73C44E50-50DC-4A41-85AB-ADA5E43DB3EB}"/>
              </a:ext>
            </a:extLst>
          </p:cNvPr>
          <p:cNvSpPr/>
          <p:nvPr/>
        </p:nvSpPr>
        <p:spPr>
          <a:xfrm>
            <a:off x="457199" y="609600"/>
            <a:ext cx="8328659" cy="5677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D687A1CD-CB78-4705-927B-6E9D44C36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13837"/>
              </p:ext>
            </p:extLst>
          </p:nvPr>
        </p:nvGraphicFramePr>
        <p:xfrm>
          <a:off x="3276600" y="4527073"/>
          <a:ext cx="55092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99">
                  <a:extLst>
                    <a:ext uri="{9D8B030D-6E8A-4147-A177-3AD203B41FA5}">
                      <a16:colId xmlns:a16="http://schemas.microsoft.com/office/drawing/2014/main" val="42093456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42320757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608335825"/>
                    </a:ext>
                  </a:extLst>
                </a:gridCol>
              </a:tblGrid>
              <a:tr h="2042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ALU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LSU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600637"/>
                  </a:ext>
                </a:extLst>
              </a:tr>
              <a:tr h="204230">
                <a:tc>
                  <a:txBody>
                    <a:bodyPr/>
                    <a:lstStyle/>
                    <a:p>
                      <a:r>
                        <a:rPr lang="vi-VN" dirty="0"/>
                        <a:t>ALU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Result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632539"/>
                  </a:ext>
                </a:extLst>
              </a:tr>
              <a:tr h="352508">
                <a:tc>
                  <a:txBody>
                    <a:bodyPr/>
                    <a:lstStyle/>
                    <a:p>
                      <a:r>
                        <a:rPr lang="vi-VN" dirty="0"/>
                        <a:t>Control Transfer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767849"/>
                  </a:ext>
                </a:extLst>
              </a:tr>
              <a:tr h="204230">
                <a:tc>
                  <a:txBody>
                    <a:bodyPr/>
                    <a:lstStyle/>
                    <a:p>
                      <a:r>
                        <a:rPr lang="vi-VN" dirty="0"/>
                        <a:t>Load/Store Instr.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dirty="0">
                          <a:latin typeface="+mn-lt"/>
                          <a:ea typeface="Segoe UI Symbol" panose="020B0502040204020203" pitchFamily="34" charset="0"/>
                        </a:rPr>
                        <a:t>Address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dirty="0">
                          <a:latin typeface="+mn-lt"/>
                          <a:ea typeface="Segoe UI Symbol" panose="020B0502040204020203" pitchFamily="34" charset="0"/>
                        </a:rPr>
                        <a:t>Result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82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262540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quả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34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3BD39-6243-47A1-8A14-37305AA4AB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440180"/>
            <a:ext cx="9031402" cy="50374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quả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35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74865-3AFD-4B21-8850-36B363573884}"/>
              </a:ext>
            </a:extLst>
          </p:cNvPr>
          <p:cNvSpPr txBox="1"/>
          <p:nvPr/>
        </p:nvSpPr>
        <p:spPr>
          <a:xfrm>
            <a:off x="381000" y="1295400"/>
            <a:ext cx="5057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200" dirty="0"/>
              <a:t>Các thông số cần đánh giá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977BE8-2455-4FE7-BB38-ECF8A22121D0}"/>
                  </a:ext>
                </a:extLst>
              </p:cNvPr>
              <p:cNvSpPr txBox="1"/>
              <p:nvPr/>
            </p:nvSpPr>
            <p:spPr>
              <a:xfrm>
                <a:off x="4343400" y="2286000"/>
                <a:ext cx="3613490" cy="3551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>
                          <a:latin typeface="Cambria Math" panose="02040503050406030204" pitchFamily="18" charset="0"/>
                        </a:rPr>
                        <m:t>𝑁𝑅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𝑃𝑖𝑝𝑒𝑙𝑖𝑛𝑒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𝑆𝑖𝑛𝑔𝑙𝑒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vi-VN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𝐷𝐼𝑈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𝐷𝑢𝑎𝑙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𝐼𝑠𝑠𝑢𝑒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vi-VN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𝑆𝐻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𝑠𝑡𝑎𝑙𝑙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977BE8-2455-4FE7-BB38-ECF8A2212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2286000"/>
                <a:ext cx="3613490" cy="35516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025F6C-210B-4925-B637-2F99FDCF9095}"/>
                  </a:ext>
                </a:extLst>
              </p:cNvPr>
              <p:cNvSpPr txBox="1"/>
              <p:nvPr/>
            </p:nvSpPr>
            <p:spPr>
              <a:xfrm>
                <a:off x="533400" y="2514600"/>
                <a:ext cx="3289427" cy="20204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 smtClean="0">
                          <a:latin typeface="Cambria Math" panose="02040503050406030204" pitchFamily="18" charset="0"/>
                        </a:rPr>
                        <m:t>𝐼𝑃𝐶</m:t>
                      </m:r>
                      <m:r>
                        <a:rPr lang="vi-V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𝑖𝑛𝑠𝑡𝑟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vi-VN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>
                          <a:latin typeface="Cambria Math" panose="02040503050406030204" pitchFamily="18" charset="0"/>
                        </a:rPr>
                        <m:t>𝐵𝑃𝐴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𝑚𝑖𝑠𝑝𝑟𝑒𝑑𝑖𝑐𝑡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𝐶𝑇𝐼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025F6C-210B-4925-B637-2F99FDCF9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514600"/>
                <a:ext cx="3289427" cy="20204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5404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uiExpand="1" build="p"/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Binary Search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36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A8A4CF-3EBA-4848-BF7F-11BC92D374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2039164"/>
            <a:ext cx="7924800" cy="16890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7FF0110-8EDD-4AC4-A832-C5E3015EDAC8}"/>
                  </a:ext>
                </a:extLst>
              </p:cNvPr>
              <p:cNvSpPr/>
              <p:nvPr/>
            </p:nvSpPr>
            <p:spPr>
              <a:xfrm>
                <a:off x="381000" y="4367008"/>
                <a:ext cx="8610600" cy="5799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indent="4572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1000"/>
                  </a:spcAft>
                </a:pPr>
                <a:r>
                  <a:rPr lang="vi-VN" sz="2400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Tìm vị trí của giá trị “5” trong dãy số </a:t>
                </a:r>
                <a14:m>
                  <m:oMath xmlns:m="http://schemas.openxmlformats.org/officeDocument/2006/math">
                    <m:r>
                      <a:rPr lang="vi-VN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𝐴</m:t>
                    </m:r>
                    <m:r>
                      <a:rPr lang="vi-VN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=[0, 6, 8, 4, 3, 9, 7, 5]</m:t>
                    </m:r>
                  </m:oMath>
                </a14:m>
                <a:endPara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7FF0110-8EDD-4AC4-A832-C5E3015EDA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367008"/>
                <a:ext cx="8610600" cy="579967"/>
              </a:xfrm>
              <a:prstGeom prst="rect">
                <a:avLst/>
              </a:prstGeom>
              <a:blipFill>
                <a:blip r:embed="rId3"/>
                <a:stretch>
                  <a:fillRect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534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Binary Search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37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29EDD3-EF46-499F-93AF-E770112DD8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1611" y="1128816"/>
            <a:ext cx="6972729" cy="532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4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Binary Search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38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20F269-31AE-4C1A-8D6A-51D2485C62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4801" y="2796540"/>
            <a:ext cx="8610600" cy="105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38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Binary Search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39</a:t>
            </a:fld>
            <a:endParaRPr lang="en-US" altLang="en-US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368001-8E2F-4A72-8A67-BDBD05C759AD}"/>
                  </a:ext>
                </a:extLst>
              </p:cNvPr>
              <p:cNvSpPr/>
              <p:nvPr/>
            </p:nvSpPr>
            <p:spPr>
              <a:xfrm>
                <a:off x="1873919" y="1683149"/>
                <a:ext cx="53961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vi-VN" sz="24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=[9, 8, 7, 6, 5, 4, 3, 0] </m:t>
                      </m:r>
                      <m:r>
                        <a:rPr lang="vi-VN" sz="24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𝑣</m:t>
                      </m:r>
                      <m:r>
                        <a:rPr lang="vi-VN" sz="24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à 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𝑡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ì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𝑔𝑖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á 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𝑡𝑟</m:t>
                      </m:r>
                      <m:r>
                        <a:rPr lang="vi-VN" sz="2400" i="1" dirty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ị 2.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368001-8E2F-4A72-8A67-BDBD05C75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919" y="1683149"/>
                <a:ext cx="5396157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AD0EB53-F464-4D55-A35D-BEAD40B614B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7568" y="4368482"/>
            <a:ext cx="8468861" cy="10319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5B7DD0-7C98-490A-884E-E1905B24B686}"/>
              </a:ext>
            </a:extLst>
          </p:cNvPr>
          <p:cNvPicPr/>
          <p:nvPr/>
        </p:nvPicPr>
        <p:blipFill rotWithShape="1">
          <a:blip r:embed="rId4"/>
          <a:srcRect t="66452" b="12359"/>
          <a:stretch/>
        </p:blipFill>
        <p:spPr>
          <a:xfrm>
            <a:off x="1083234" y="2545279"/>
            <a:ext cx="7769514" cy="125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76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P-Share vs G-Share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CE013-6EC3-434B-A0FF-7E5C38692E51}"/>
              </a:ext>
            </a:extLst>
          </p:cNvPr>
          <p:cNvSpPr txBox="1"/>
          <p:nvPr/>
        </p:nvSpPr>
        <p:spPr>
          <a:xfrm>
            <a:off x="381000" y="1295400"/>
            <a:ext cx="416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200" dirty="0"/>
              <a:t>Factorial và Fibonacci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855131-25AC-4A8C-80D2-A4C3A79346E2}"/>
                  </a:ext>
                </a:extLst>
              </p:cNvPr>
              <p:cNvSpPr txBox="1"/>
              <p:nvPr/>
            </p:nvSpPr>
            <p:spPr>
              <a:xfrm>
                <a:off x="1781556" y="3035746"/>
                <a:ext cx="5580887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!= 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−1)!</m:t>
                      </m:r>
                    </m:oMath>
                  </m:oMathPara>
                </a14:m>
                <a:endParaRPr lang="vi-VN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𝑓𝑖𝑏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𝑓𝑖𝑏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−1)+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𝑓𝑖𝑏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vi-VN" sz="2800" i="1" dirty="0" smtClean="0">
                          <a:latin typeface="Cambria Math" panose="02040503050406030204" pitchFamily="18" charset="0"/>
                        </a:rPr>
                        <m:t>−2)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855131-25AC-4A8C-80D2-A4C3A793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556" y="3035746"/>
                <a:ext cx="5580887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25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P-Share vs G-Share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CE013-6EC3-434B-A0FF-7E5C38692E51}"/>
              </a:ext>
            </a:extLst>
          </p:cNvPr>
          <p:cNvSpPr txBox="1"/>
          <p:nvPr/>
        </p:nvSpPr>
        <p:spPr>
          <a:xfrm>
            <a:off x="381000" y="1295400"/>
            <a:ext cx="416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200" dirty="0"/>
              <a:t>Factorial và Fibonacci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3A12E-74E2-4C8E-969F-133D0953EE32}"/>
              </a:ext>
            </a:extLst>
          </p:cNvPr>
          <p:cNvPicPr/>
          <p:nvPr/>
        </p:nvPicPr>
        <p:blipFill rotWithShape="1">
          <a:blip r:embed="rId2"/>
          <a:srcRect l="48829" r="7689"/>
          <a:stretch/>
        </p:blipFill>
        <p:spPr>
          <a:xfrm>
            <a:off x="421322" y="2103956"/>
            <a:ext cx="3840089" cy="3676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336C9F-A5A4-482C-8057-B8291BD3A671}"/>
              </a:ext>
            </a:extLst>
          </p:cNvPr>
          <p:cNvPicPr/>
          <p:nvPr/>
        </p:nvPicPr>
        <p:blipFill rotWithShape="1">
          <a:blip r:embed="rId3"/>
          <a:srcRect l="48925" r="7674"/>
          <a:stretch/>
        </p:blipFill>
        <p:spPr>
          <a:xfrm>
            <a:off x="5052258" y="2129492"/>
            <a:ext cx="3813417" cy="36510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093284-7F10-4443-83F2-D7062920323D}"/>
                  </a:ext>
                </a:extLst>
              </p:cNvPr>
              <p:cNvSpPr/>
              <p:nvPr/>
            </p:nvSpPr>
            <p:spPr>
              <a:xfrm>
                <a:off x="5052258" y="6004331"/>
                <a:ext cx="35827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𝐹𝑖𝑏𝑜𝑛𝑎𝑐𝑐𝑖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(</m:t>
                      </m:r>
                      <m:r>
                        <a:rPr lang="vi-VN" sz="1800" i="1" dirty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18)</m:t>
                      </m:r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=</m:t>
                      </m:r>
                      <m:sSub>
                        <m:sSubPr>
                          <m:ctrlPr>
                            <a:rPr lang="en-US" sz="1800" i="1" dirty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</m:ctrlPr>
                        </m:sSubPr>
                        <m:e>
                          <m:r>
                            <a:rPr lang="vi-VN" sz="1800" i="1" dirty="0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2584</m:t>
                          </m:r>
                        </m:e>
                        <m:sub>
                          <m:r>
                            <a:rPr lang="vi-VN" sz="1800" i="1" dirty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𝑑</m:t>
                          </m:r>
                        </m:sub>
                      </m:sSub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=0</m:t>
                      </m:r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𝑥𝑎</m:t>
                      </m:r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18</m:t>
                      </m:r>
                    </m:oMath>
                  </m:oMathPara>
                </a14:m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093284-7F10-4443-83F2-D706292032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258" y="6004331"/>
                <a:ext cx="358277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8EA8567-7C2C-4E70-88C3-CCEC3EA889F1}"/>
                  </a:ext>
                </a:extLst>
              </p:cNvPr>
              <p:cNvSpPr/>
              <p:nvPr/>
            </p:nvSpPr>
            <p:spPr>
              <a:xfrm>
                <a:off x="251655" y="6004331"/>
                <a:ext cx="38400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𝐹𝑎𝑐𝑡𝑜𝑟𝑖𝑎𝑙</m:t>
                      </m:r>
                      <m:d>
                        <m:dPr>
                          <m:ctrlP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vi-VN" sz="1800" i="1" dirty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!8</m:t>
                          </m:r>
                        </m:e>
                      </m:d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vi-VN" sz="1800" i="1" dirty="0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40320</m:t>
                          </m:r>
                        </m:e>
                        <m:sub>
                          <m:r>
                            <a:rPr lang="vi-VN" sz="1800" i="1" dirty="0" smtClean="0">
                              <a:effectLst/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𝑑</m:t>
                          </m:r>
                        </m:sub>
                      </m:sSub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=0</m:t>
                      </m:r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𝑥</m:t>
                      </m:r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9</m:t>
                      </m:r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𝑑</m:t>
                      </m:r>
                      <m:r>
                        <a:rPr lang="vi-VN" sz="1800" i="1" dirty="0" smtClean="0">
                          <a:effectLst/>
                          <a:latin typeface="Cambria Math" panose="02040503050406030204" pitchFamily="18" charset="0"/>
                          <a:ea typeface="Malgun Gothic" panose="020B0503020000020004" pitchFamily="34" charset="-127"/>
                        </a:rPr>
                        <m:t>08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8EA8567-7C2C-4E70-88C3-CCEC3EA889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55" y="6004331"/>
                <a:ext cx="38400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87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917B34-8AB8-4F15-AC9D-A74E2B436E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61260" y="44933"/>
            <a:ext cx="4724400" cy="676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46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P-Share vs G-Share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43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38D0BF1-E339-43C1-9B20-E9F9A9C88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7257995"/>
              </p:ext>
            </p:extLst>
          </p:nvPr>
        </p:nvGraphicFramePr>
        <p:xfrm>
          <a:off x="935037" y="1524000"/>
          <a:ext cx="7315200" cy="4490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476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AQUAcore vs BRISC-V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44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58C8A5-EF8D-4B07-899C-729CA2A25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69443"/>
              </p:ext>
            </p:extLst>
          </p:nvPr>
        </p:nvGraphicFramePr>
        <p:xfrm>
          <a:off x="218836" y="2057400"/>
          <a:ext cx="8706327" cy="3200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091036546"/>
                    </a:ext>
                  </a:extLst>
                </a:gridCol>
                <a:gridCol w="2089309">
                  <a:extLst>
                    <a:ext uri="{9D8B030D-6E8A-4147-A177-3AD203B41FA5}">
                      <a16:colId xmlns:a16="http://schemas.microsoft.com/office/drawing/2014/main" val="1186839870"/>
                    </a:ext>
                  </a:extLst>
                </a:gridCol>
                <a:gridCol w="2089309">
                  <a:extLst>
                    <a:ext uri="{9D8B030D-6E8A-4147-A177-3AD203B41FA5}">
                      <a16:colId xmlns:a16="http://schemas.microsoft.com/office/drawing/2014/main" val="2483766819"/>
                    </a:ext>
                  </a:extLst>
                </a:gridCol>
                <a:gridCol w="2089309">
                  <a:extLst>
                    <a:ext uri="{9D8B030D-6E8A-4147-A177-3AD203B41FA5}">
                      <a16:colId xmlns:a16="http://schemas.microsoft.com/office/drawing/2014/main" val="187117431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core type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clock frequency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cycles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time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7741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Single Cycle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29.0 MHz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59k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2.034 ms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72539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5 Stage Stalled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62.6 MHz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190k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3.045 ms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70554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5 Stage Bypassed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61.5 MHz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107k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1.709 ms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56346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7 Stage Bypassed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81.1 MHz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113k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1.393 ms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6045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AQUAcore G-Share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61.5 MHz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71.4k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1.161 ms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76799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AQUAcore P-Share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61.5 MHz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71.5k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1.163 ms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48979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C43CA2-7811-47C7-AEDF-5796C89158CC}"/>
              </a:ext>
            </a:extLst>
          </p:cNvPr>
          <p:cNvSpPr txBox="1"/>
          <p:nvPr/>
        </p:nvSpPr>
        <p:spPr>
          <a:xfrm>
            <a:off x="6221685" y="5943600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*testbench Factorial(!8)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4971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6269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AQUAcore vs BRISC-V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43CA2-7811-47C7-AEDF-5796C89158CC}"/>
              </a:ext>
            </a:extLst>
          </p:cNvPr>
          <p:cNvSpPr txBox="1"/>
          <p:nvPr/>
        </p:nvSpPr>
        <p:spPr>
          <a:xfrm>
            <a:off x="6221685" y="5943600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*testbench Factorial(!8)</a:t>
            </a: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AA1BEBF-FCD5-4D06-BE0E-3911E8C9A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164673"/>
              </p:ext>
            </p:extLst>
          </p:nvPr>
        </p:nvGraphicFramePr>
        <p:xfrm>
          <a:off x="574221" y="1096962"/>
          <a:ext cx="7995557" cy="466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889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7412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AQUAcore </a:t>
            </a:r>
            <a:r>
              <a:rPr lang="vi-VN" b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vs BOOM, Rocket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46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C2ABF7-9528-485D-AED0-1E3C76D1D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565914"/>
              </p:ext>
            </p:extLst>
          </p:nvPr>
        </p:nvGraphicFramePr>
        <p:xfrm>
          <a:off x="220981" y="1143000"/>
          <a:ext cx="8702038" cy="4984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68039">
                  <a:extLst>
                    <a:ext uri="{9D8B030D-6E8A-4147-A177-3AD203B41FA5}">
                      <a16:colId xmlns:a16="http://schemas.microsoft.com/office/drawing/2014/main" val="1859068653"/>
                    </a:ext>
                  </a:extLst>
                </a:gridCol>
                <a:gridCol w="1910247">
                  <a:extLst>
                    <a:ext uri="{9D8B030D-6E8A-4147-A177-3AD203B41FA5}">
                      <a16:colId xmlns:a16="http://schemas.microsoft.com/office/drawing/2014/main" val="3579959633"/>
                    </a:ext>
                  </a:extLst>
                </a:gridCol>
                <a:gridCol w="1711876">
                  <a:extLst>
                    <a:ext uri="{9D8B030D-6E8A-4147-A177-3AD203B41FA5}">
                      <a16:colId xmlns:a16="http://schemas.microsoft.com/office/drawing/2014/main" val="3254334769"/>
                    </a:ext>
                  </a:extLst>
                </a:gridCol>
                <a:gridCol w="1711876">
                  <a:extLst>
                    <a:ext uri="{9D8B030D-6E8A-4147-A177-3AD203B41FA5}">
                      <a16:colId xmlns:a16="http://schemas.microsoft.com/office/drawing/2014/main" val="3935966642"/>
                    </a:ext>
                  </a:extLst>
                </a:gridCol>
              </a:tblGrid>
              <a:tr h="64179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testcode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dual-issue utilization (%)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stall due to hazard (%)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instruction per cycle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4883123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Binary – G-Share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35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36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1.35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7156478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Binary – P-Share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35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36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1.35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3644188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Factorial(!8) – G-Share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1.17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7015777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Factorial(!8) – P-Share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1.17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0800280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Fibonacci(18) – G-Share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47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1.47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9723483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Fibonacci(18) – P-Share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48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1.48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13106747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Hanoi – G-Share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44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1.44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9631624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Hanoi – P-Share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45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1.45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8632075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GCD(1023,97) – G-Share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43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1.42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1339556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GCD(1023,97) – P-Share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42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1.42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6892942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Overall – G-Share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37.2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26.2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1.37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2937813"/>
                  </a:ext>
                </a:extLst>
              </a:tr>
              <a:tr h="30596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Overall – P-Share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>
                          <a:effectLst/>
                        </a:rPr>
                        <a:t>37.4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25.8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800" dirty="0">
                          <a:effectLst/>
                        </a:rPr>
                        <a:t>1.37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4233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241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09FDA024-D14F-4D88-A0CD-1185426F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74120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vi-VN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AQUAcore </a:t>
            </a:r>
            <a:r>
              <a:rPr lang="vi-VN" b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vs BOOM, Rocket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E62D6882-99DF-4856-B2E0-F41353FC8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891D7D-F470-4439-8AAD-EE8D2DA44F89}" type="slidenum">
              <a:rPr lang="en-US" altLang="en-US">
                <a:solidFill>
                  <a:srgbClr val="898989"/>
                </a:solidFill>
              </a:rPr>
              <a:pPr eaLnBrk="1" hangingPunct="1"/>
              <a:t>47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39FFF00-4EC0-4C4D-827A-1677E7F00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7786055"/>
              </p:ext>
            </p:extLst>
          </p:nvPr>
        </p:nvGraphicFramePr>
        <p:xfrm>
          <a:off x="457200" y="1396206"/>
          <a:ext cx="7995557" cy="466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248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AD7FEB0C-07C6-4B1F-927A-52879C572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76406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luận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hướng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phát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triển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6137B5D1-C31E-4DE5-BFC1-B3B24078C0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45C5CC-1A03-49C6-9BE2-9BFC11464C15}" type="slidenum">
              <a:rPr lang="en-US" altLang="en-US">
                <a:solidFill>
                  <a:srgbClr val="898989"/>
                </a:solidFill>
              </a:rPr>
              <a:pPr eaLnBrk="1" hangingPunct="1"/>
              <a:t>48</a:t>
            </a:fld>
            <a:endParaRPr lang="en-US" altLang="en-US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5C0FDB1-3F65-4D15-A7E4-6036A5B15FA4}"/>
                  </a:ext>
                </a:extLst>
              </p:cNvPr>
              <p:cNvSpPr/>
              <p:nvPr/>
            </p:nvSpPr>
            <p:spPr>
              <a:xfrm>
                <a:off x="762000" y="1447800"/>
                <a:ext cx="8201819" cy="39953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vi-VN" sz="28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Ưu điểm</a:t>
                </a: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vi-VN" sz="20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Chỉ số </a:t>
                </a:r>
                <a14:m>
                  <m:oMath xmlns:m="http://schemas.openxmlformats.org/officeDocument/2006/math"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𝐼𝑃𝐶</m:t>
                    </m:r>
                  </m:oMath>
                </a14:m>
                <a:r>
                  <a:rPr lang="vi-VN" sz="2000" dirty="0">
                    <a:effectLst/>
                    <a:ea typeface="Malgun Gothic" panose="020B0503020000020004" pitchFamily="34" charset="-127"/>
                    <a:cs typeface="Arial" panose="020B0604020202020204" pitchFamily="34" charset="0"/>
                  </a:rPr>
                  <a:t> cao –</a:t>
                </a:r>
                <a:r>
                  <a:rPr lang="vi-VN" sz="20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𝐼𝑃𝐶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=1.37</m:t>
                    </m:r>
                  </m:oMath>
                </a14:m>
                <a:endParaRPr lang="en-US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:r>
                  <a:rPr lang="vi-VN" sz="20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Tận dụng được hai đường U-Pipe và V-Pipe –</a:t>
                </a:r>
                <a14:m>
                  <m:oMath xmlns:m="http://schemas.openxmlformats.org/officeDocument/2006/math"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%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𝐷𝐼𝑈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=37%</m:t>
                    </m:r>
                  </m:oMath>
                </a14:m>
                <a:endParaRPr lang="en-US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R="0" lvl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vi-VN" sz="2800" b="1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Khuyết điểm</a:t>
                </a: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vi-VN" sz="20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Chưa thể tận dụng hết hai đường U-Pipe, V-Pipe</a:t>
                </a:r>
                <a:endParaRPr lang="en-US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vi-VN" sz="2000" dirty="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Chỉ số </a:t>
                </a:r>
                <a14:m>
                  <m:oMath xmlns:m="http://schemas.openxmlformats.org/officeDocument/2006/math"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%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𝑆𝐻</m:t>
                    </m:r>
                    <m:r>
                      <a:rPr lang="vi-VN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=26</m:t>
                    </m:r>
                  </m:oMath>
                </a14:m>
                <a:r>
                  <a:rPr lang="vi-VN" sz="2000" dirty="0">
                    <a:effectLst/>
                    <a:ea typeface="Malgun Gothic" panose="020B0503020000020004" pitchFamily="34" charset="-127"/>
                    <a:cs typeface="Arial" panose="020B0604020202020204" pitchFamily="34" charset="0"/>
                  </a:rPr>
                  <a:t> là khá cao.</a:t>
                </a:r>
                <a:endParaRPr lang="en-US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:r>
                  <a:rPr lang="vi-VN" sz="2000" dirty="0">
                    <a:ea typeface="Malgun Gothic" panose="020B0503020000020004" pitchFamily="34" charset="-127"/>
                    <a:cs typeface="Arial" panose="020B0604020202020204" pitchFamily="34" charset="0"/>
                  </a:rPr>
                  <a:t>P</a:t>
                </a:r>
                <a:r>
                  <a:rPr lang="vi-VN" sz="2000" dirty="0">
                    <a:effectLst/>
                    <a:ea typeface="Malgun Gothic" panose="020B0503020000020004" pitchFamily="34" charset="-127"/>
                    <a:cs typeface="Arial" panose="020B0604020202020204" pitchFamily="34" charset="0"/>
                  </a:rPr>
                  <a:t>hụ thuộc vào phần mềm để giải quyết Data Hazard.</a:t>
                </a:r>
                <a:endParaRPr lang="en-US" sz="2000" dirty="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5C0FDB1-3F65-4D15-A7E4-6036A5B15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447800"/>
                <a:ext cx="8201819" cy="3995389"/>
              </a:xfrm>
              <a:prstGeom prst="rect">
                <a:avLst/>
              </a:prstGeom>
              <a:blipFill>
                <a:blip r:embed="rId2"/>
                <a:stretch>
                  <a:fillRect l="-1487" b="-1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AD7FEB0C-07C6-4B1F-927A-52879C572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763" y="288925"/>
            <a:ext cx="7640637" cy="67468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Kết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luận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hướng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phát</a:t>
            </a:r>
            <a:r>
              <a:rPr lang="en-US" b="1" dirty="0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3376C7"/>
                </a:solidFill>
                <a:latin typeface="Arial" pitchFamily="34" charset="0"/>
                <a:cs typeface="Arial" pitchFamily="34" charset="0"/>
              </a:rPr>
              <a:t>triển</a:t>
            </a:r>
            <a:endParaRPr lang="en-US" b="1" dirty="0">
              <a:solidFill>
                <a:srgbClr val="3376C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22" name="Rectangle 71">
            <a:extLst>
              <a:ext uri="{FF2B5EF4-FFF2-40B4-BE49-F238E27FC236}">
                <a16:creationId xmlns:a16="http://schemas.microsoft.com/office/drawing/2014/main" id="{6137B5D1-C31E-4DE5-BFC1-B3B24078C0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45C5CC-1A03-49C6-9BE2-9BFC11464C15}" type="slidenum">
              <a:rPr lang="en-US" altLang="en-US">
                <a:solidFill>
                  <a:srgbClr val="898989"/>
                </a:solidFill>
              </a:rPr>
              <a:pPr eaLnBrk="1" hangingPunct="1"/>
              <a:t>49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C0FDB1-3F65-4D15-A7E4-6036A5B15FA4}"/>
              </a:ext>
            </a:extLst>
          </p:cNvPr>
          <p:cNvSpPr/>
          <p:nvPr/>
        </p:nvSpPr>
        <p:spPr>
          <a:xfrm>
            <a:off x="975121" y="2562384"/>
            <a:ext cx="7477920" cy="1733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sz="28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Hướng phát triển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vi-VN" sz="2000" dirty="0">
                <a:ea typeface="Calibri" panose="020F0502020204030204" pitchFamily="34" charset="0"/>
                <a:cs typeface="Arial" panose="020B0604020202020204" pitchFamily="34" charset="0"/>
              </a:rPr>
              <a:t>AQUAcore cần trang bị thêm Bus và Cache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vi-VN" sz="2000" dirty="0">
                <a:ea typeface="Calibri" panose="020F0502020204030204" pitchFamily="34" charset="0"/>
                <a:cs typeface="Arial" panose="020B0604020202020204" pitchFamily="34" charset="0"/>
              </a:rPr>
              <a:t>Đổ lên FPGA để thực hiện những ứng dụng trong giảng dạy</a:t>
            </a:r>
          </a:p>
        </p:txBody>
      </p:sp>
    </p:spTree>
    <p:extLst>
      <p:ext uri="{BB962C8B-B14F-4D97-AF65-F5344CB8AC3E}">
        <p14:creationId xmlns:p14="http://schemas.microsoft.com/office/powerpoint/2010/main" val="1321950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1">
            <a:extLst>
              <a:ext uri="{FF2B5EF4-FFF2-40B4-BE49-F238E27FC236}">
                <a16:creationId xmlns:a16="http://schemas.microsoft.com/office/drawing/2014/main" id="{3800F601-FC7E-49CC-B513-C28DCE1A08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462A0E-2F22-4451-9C81-98E82BEFF46C}" type="slidenum">
              <a:rPr lang="en-US" altLang="en-US">
                <a:solidFill>
                  <a:srgbClr val="898989"/>
                </a:solidFill>
              </a:rPr>
              <a:pPr eaLnBrk="1" hangingPunct="1"/>
              <a:t>50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17DCF3-F4EB-4B96-B52A-2657064F33BB}"/>
              </a:ext>
            </a:extLst>
          </p:cNvPr>
          <p:cNvSpPr/>
          <p:nvPr/>
        </p:nvSpPr>
        <p:spPr>
          <a:xfrm>
            <a:off x="0" y="838200"/>
            <a:ext cx="9144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2" name="TextBox 49">
            <a:extLst>
              <a:ext uri="{FF2B5EF4-FFF2-40B4-BE49-F238E27FC236}">
                <a16:creationId xmlns:a16="http://schemas.microsoft.com/office/drawing/2014/main" id="{46CE5312-A371-4A77-9AB6-C0856D18A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362200"/>
            <a:ext cx="6553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vi-VN" altLang="en-US" sz="9600" b="1" dirty="0">
                <a:solidFill>
                  <a:srgbClr val="3376C7"/>
                </a:solidFill>
              </a:rPr>
              <a:t>CÁ</a:t>
            </a:r>
            <a:r>
              <a:rPr lang="en-US" altLang="en-US" sz="9600" b="1" dirty="0">
                <a:solidFill>
                  <a:srgbClr val="3376C7"/>
                </a:solidFill>
              </a:rPr>
              <a:t>M ƠN…</a:t>
            </a:r>
          </a:p>
        </p:txBody>
      </p:sp>
    </p:spTree>
  </p:cSld>
  <p:clrMapOvr>
    <a:masterClrMapping/>
  </p:clrMapOvr>
  <p:transition spd="slow">
    <p:split orient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4666</TotalTime>
  <Words>1054</Words>
  <Application>Microsoft Office PowerPoint</Application>
  <PresentationFormat>On-screen Show (4:3)</PresentationFormat>
  <Paragraphs>389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Cambria Math</vt:lpstr>
      <vt:lpstr>Segoe UI Symbol</vt:lpstr>
      <vt:lpstr>Symbol</vt:lpstr>
      <vt:lpstr>Times New Roman</vt:lpstr>
      <vt:lpstr>Office Theme</vt:lpstr>
      <vt:lpstr>PowerPoint Presentation</vt:lpstr>
      <vt:lpstr>Nội dung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1. Giới thiệu tổng quan</vt:lpstr>
      <vt:lpstr>2. Nhiệm vụ đề tài</vt:lpstr>
      <vt:lpstr>3. Đặc tả hệ thống</vt:lpstr>
      <vt:lpstr>3. Đặc tả hệ thống</vt:lpstr>
      <vt:lpstr>4. Thiết kế phần cứng</vt:lpstr>
      <vt:lpstr>4. Thiết kế phần cứng</vt:lpstr>
      <vt:lpstr>4. Thiết kế phần cứng</vt:lpstr>
      <vt:lpstr>4. Thiết kế phần cứng</vt:lpstr>
      <vt:lpstr>4. Thiết kế phần cứng</vt:lpstr>
      <vt:lpstr>4. Thiết kế phần cứng</vt:lpstr>
      <vt:lpstr>4. Thiết kế phần cứng</vt:lpstr>
      <vt:lpstr>Fetch</vt:lpstr>
      <vt:lpstr>Branch Predictor</vt:lpstr>
      <vt:lpstr>Branch Predictor</vt:lpstr>
      <vt:lpstr>Điều chế tín hiệu idx</vt:lpstr>
      <vt:lpstr>Align</vt:lpstr>
      <vt:lpstr>Queue</vt:lpstr>
      <vt:lpstr>Decode</vt:lpstr>
      <vt:lpstr>Issue</vt:lpstr>
      <vt:lpstr>Scoreboard</vt:lpstr>
      <vt:lpstr>Scoreboard</vt:lpstr>
      <vt:lpstr>U-Pipe</vt:lpstr>
      <vt:lpstr>U-Pipe</vt:lpstr>
      <vt:lpstr>3. Thiết kế phần cứng</vt:lpstr>
      <vt:lpstr>V-Pipe</vt:lpstr>
      <vt:lpstr>V-Pipe</vt:lpstr>
      <vt:lpstr>Kết quả</vt:lpstr>
      <vt:lpstr>Kết quả</vt:lpstr>
      <vt:lpstr>Binary Search</vt:lpstr>
      <vt:lpstr>Binary Search</vt:lpstr>
      <vt:lpstr>Binary Search</vt:lpstr>
      <vt:lpstr>Binary Search</vt:lpstr>
      <vt:lpstr>P-Share vs G-Share</vt:lpstr>
      <vt:lpstr>P-Share vs G-Share</vt:lpstr>
      <vt:lpstr>PowerPoint Presentation</vt:lpstr>
      <vt:lpstr>P-Share vs G-Share</vt:lpstr>
      <vt:lpstr>AQUAcore vs BRISC-V</vt:lpstr>
      <vt:lpstr>AQUAcore vs BRISC-V</vt:lpstr>
      <vt:lpstr>AQUAcore vs BOOM, Rocket</vt:lpstr>
      <vt:lpstr>AQUAcore vs BOOM, Rocket</vt:lpstr>
      <vt:lpstr>Kết luận, hướng phát triển</vt:lpstr>
      <vt:lpstr>Kết luận, hướng phát triển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LVTN-bmDT</dc:title>
  <dc:creator>HOANG Trang</dc:creator>
  <cp:lastModifiedBy>Harrie Joachim</cp:lastModifiedBy>
  <cp:revision>321</cp:revision>
  <dcterms:created xsi:type="dcterms:W3CDTF">2010-08-18T20:21:10Z</dcterms:created>
  <dcterms:modified xsi:type="dcterms:W3CDTF">2020-01-07T06:10:44Z</dcterms:modified>
</cp:coreProperties>
</file>